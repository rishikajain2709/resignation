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648" r:id="rId2"/>
  </p:sldMasterIdLst>
  <p:notesMasterIdLst>
    <p:notesMasterId r:id="rId37"/>
  </p:notesMasterIdLst>
  <p:sldIdLst>
    <p:sldId id="2145706662" r:id="rId3"/>
    <p:sldId id="2145706692" r:id="rId4"/>
    <p:sldId id="257" r:id="rId5"/>
    <p:sldId id="2145706664" r:id="rId6"/>
    <p:sldId id="2145706689" r:id="rId7"/>
    <p:sldId id="2145706669" r:id="rId8"/>
    <p:sldId id="2145706672" r:id="rId9"/>
    <p:sldId id="2145706686" r:id="rId10"/>
    <p:sldId id="2145706694" r:id="rId11"/>
    <p:sldId id="2145706690" r:id="rId12"/>
    <p:sldId id="269" r:id="rId13"/>
    <p:sldId id="2145706688" r:id="rId14"/>
    <p:sldId id="2145706691" r:id="rId15"/>
    <p:sldId id="2145706663" r:id="rId16"/>
    <p:sldId id="2145706682" r:id="rId17"/>
    <p:sldId id="2145706687" r:id="rId18"/>
    <p:sldId id="2145706674" r:id="rId19"/>
    <p:sldId id="2145706680" r:id="rId20"/>
    <p:sldId id="2145706678" r:id="rId21"/>
    <p:sldId id="2145706693" r:id="rId22"/>
    <p:sldId id="2145706671" r:id="rId23"/>
    <p:sldId id="256" r:id="rId24"/>
    <p:sldId id="2145706665" r:id="rId25"/>
    <p:sldId id="2145706676" r:id="rId26"/>
    <p:sldId id="268" r:id="rId27"/>
    <p:sldId id="2145706677" r:id="rId28"/>
    <p:sldId id="2145706683" r:id="rId29"/>
    <p:sldId id="2145706684" r:id="rId30"/>
    <p:sldId id="2145706661" r:id="rId31"/>
    <p:sldId id="2145706681" r:id="rId32"/>
    <p:sldId id="271" r:id="rId33"/>
    <p:sldId id="2145706670" r:id="rId34"/>
    <p:sldId id="2145706666" r:id="rId35"/>
    <p:sldId id="214570666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8CC"/>
    <a:srgbClr val="469DFC"/>
    <a:srgbClr val="FEA050"/>
    <a:srgbClr val="FBF9F6"/>
    <a:srgbClr val="FFFFFF"/>
    <a:srgbClr val="141416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651F6D-E774-06F6-177E-808C6CA5AA0E}" v="135" dt="2026-05-25T06:45:17.133"/>
    <p1510:client id="{2211C809-08F5-407A-3FB8-8900BB151C19}" v="2" dt="2026-05-25T09:15:42.080"/>
    <p1510:client id="{9115D9B9-8EDB-7639-9926-E9B7680D7B41}" v="144" dt="2026-05-25T04:24:51.855"/>
    <p1510:client id="{ACAA783E-5B41-17A9-318F-04E3F62CB04D}" v="139" dt="2026-05-25T05:45:19.982"/>
    <p1510:client id="{C69FD96D-B336-F85F-AEAD-017A9D2AF025}" v="44" dt="2026-05-25T00:26:08.409"/>
    <p1510:client id="{D77D5BCA-E57A-CC85-E4F6-227DE03AFEE1}" v="8" dt="2026-05-25T07:54:51.680"/>
    <p1510:client id="{D815D113-34E5-3428-1F52-97FF93AB3DDF}" v="102" dt="2026-05-25T05:24:02.838"/>
    <p1510:client id="{DD40D0D9-DCB6-40EB-BBEA-5924B0587E1C}" v="468" dt="2026-05-25T06:58:55.053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DEEEA9-6C78-416B-8D99-C791EE68F693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C50C19-4FFB-4B55-A702-14DE64E6CE83}">
      <dgm:prSet custT="1"/>
      <dgm:spPr>
        <a:solidFill>
          <a:srgbClr val="FFD8CC"/>
        </a:solidFill>
      </dgm:spPr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Built an </a:t>
          </a:r>
          <a:r>
            <a:rPr lang="en-US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end-to-end ETL pipeline using AWS services and Airflow</a:t>
          </a:r>
        </a:p>
      </dgm:t>
    </dgm:pt>
    <dgm:pt modelId="{63F1785C-019E-4C86-A004-17258BF03B39}" type="parTrans" cxnId="{4D01B953-B5AD-49D4-B348-EA2EF9817DBB}">
      <dgm:prSet/>
      <dgm:spPr/>
      <dgm:t>
        <a:bodyPr/>
        <a:lstStyle/>
        <a:p>
          <a:endParaRPr lang="en-US"/>
        </a:p>
      </dgm:t>
    </dgm:pt>
    <dgm:pt modelId="{B2297954-5750-407A-B981-D2B53518A2D8}" type="sibTrans" cxnId="{4D01B953-B5AD-49D4-B348-EA2EF9817DBB}">
      <dgm:prSet/>
      <dgm:spPr/>
      <dgm:t>
        <a:bodyPr/>
        <a:lstStyle/>
        <a:p>
          <a:endParaRPr lang="en-US"/>
        </a:p>
      </dgm:t>
    </dgm:pt>
    <dgm:pt modelId="{08BB4483-B3DC-4832-868E-08B42D8800CC}">
      <dgm:prSet custT="1"/>
      <dgm:spPr>
        <a:solidFill>
          <a:srgbClr val="FFD8CC"/>
        </a:solidFill>
      </dgm:spPr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Used </a:t>
          </a:r>
          <a:r>
            <a:rPr lang="en-US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Lambda to collect API data and store it in S3 in Parquet format</a:t>
          </a:r>
        </a:p>
      </dgm:t>
    </dgm:pt>
    <dgm:pt modelId="{24732D48-5391-4999-ADE4-3E0A6048DB4C}" type="parTrans" cxnId="{4638FF44-8CF5-41C6-9CB7-E520300FBFE1}">
      <dgm:prSet/>
      <dgm:spPr/>
      <dgm:t>
        <a:bodyPr/>
        <a:lstStyle/>
        <a:p>
          <a:endParaRPr lang="en-US"/>
        </a:p>
      </dgm:t>
    </dgm:pt>
    <dgm:pt modelId="{3746BC26-422A-4930-9ECF-D4A18FA91125}" type="sibTrans" cxnId="{4638FF44-8CF5-41C6-9CB7-E520300FBFE1}">
      <dgm:prSet/>
      <dgm:spPr/>
      <dgm:t>
        <a:bodyPr/>
        <a:lstStyle/>
        <a:p>
          <a:endParaRPr lang="en-US"/>
        </a:p>
      </dgm:t>
    </dgm:pt>
    <dgm:pt modelId="{4A03A979-59A6-4A30-BACF-52D1870C1864}">
      <dgm:prSet custT="1"/>
      <dgm:spPr>
        <a:solidFill>
          <a:srgbClr val="FFD8CC"/>
        </a:solidFill>
      </dgm:spPr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Processed and cleaned the data using </a:t>
          </a:r>
          <a:r>
            <a:rPr lang="en-US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AWS Glue with Spark</a:t>
          </a:r>
        </a:p>
      </dgm:t>
    </dgm:pt>
    <dgm:pt modelId="{A5165D23-FA84-41F1-9080-8A3869788124}" type="parTrans" cxnId="{891A1192-5910-4A09-A298-C8C801AB0A71}">
      <dgm:prSet/>
      <dgm:spPr/>
      <dgm:t>
        <a:bodyPr/>
        <a:lstStyle/>
        <a:p>
          <a:endParaRPr lang="en-US"/>
        </a:p>
      </dgm:t>
    </dgm:pt>
    <dgm:pt modelId="{429DFC6E-F704-4751-A47E-C3CFEE2350FF}" type="sibTrans" cxnId="{891A1192-5910-4A09-A298-C8C801AB0A71}">
      <dgm:prSet/>
      <dgm:spPr/>
      <dgm:t>
        <a:bodyPr/>
        <a:lstStyle/>
        <a:p>
          <a:endParaRPr lang="en-US"/>
        </a:p>
      </dgm:t>
    </dgm:pt>
    <dgm:pt modelId="{AB2B6565-A7FF-473B-AE4F-E96ECABF5E9E}">
      <dgm:prSet custT="1"/>
      <dgm:spPr>
        <a:solidFill>
          <a:srgbClr val="FFD8CC"/>
        </a:solidFill>
      </dgm:spPr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Stored the transformed data back in </a:t>
          </a:r>
          <a:r>
            <a:rPr lang="en-US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S3 for further usage</a:t>
          </a:r>
        </a:p>
      </dgm:t>
    </dgm:pt>
    <dgm:pt modelId="{CED826E9-2D4D-42C0-8833-C711F4E562E8}" type="parTrans" cxnId="{BE98D012-1EA7-46E8-B7F4-2B053753AE95}">
      <dgm:prSet/>
      <dgm:spPr/>
      <dgm:t>
        <a:bodyPr/>
        <a:lstStyle/>
        <a:p>
          <a:endParaRPr lang="en-US"/>
        </a:p>
      </dgm:t>
    </dgm:pt>
    <dgm:pt modelId="{0F6CE0A0-8175-4239-B9EF-AC5E9061D2E8}" type="sibTrans" cxnId="{BE98D012-1EA7-46E8-B7F4-2B053753AE95}">
      <dgm:prSet/>
      <dgm:spPr/>
      <dgm:t>
        <a:bodyPr/>
        <a:lstStyle/>
        <a:p>
          <a:endParaRPr lang="en-US"/>
        </a:p>
      </dgm:t>
    </dgm:pt>
    <dgm:pt modelId="{A31CEB82-50A3-467A-B064-E3FD56387DAF}">
      <dgm:prSet custT="1"/>
      <dgm:spPr>
        <a:solidFill>
          <a:srgbClr val="FFD8CC"/>
        </a:solidFill>
      </dgm:spPr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Used </a:t>
          </a:r>
          <a:r>
            <a:rPr lang="en-US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Airflow DAG to automate and manage the workflow execution</a:t>
          </a:r>
        </a:p>
      </dgm:t>
    </dgm:pt>
    <dgm:pt modelId="{F212538C-E747-446E-81C3-1FA39C855769}" type="parTrans" cxnId="{1F1F268F-EE1F-4BBF-807A-746A8E8CD31E}">
      <dgm:prSet/>
      <dgm:spPr/>
      <dgm:t>
        <a:bodyPr/>
        <a:lstStyle/>
        <a:p>
          <a:endParaRPr lang="en-US"/>
        </a:p>
      </dgm:t>
    </dgm:pt>
    <dgm:pt modelId="{21C7C492-F30C-4DE3-921C-102477F9E2EC}" type="sibTrans" cxnId="{1F1F268F-EE1F-4BBF-807A-746A8E8CD31E}">
      <dgm:prSet/>
      <dgm:spPr/>
      <dgm:t>
        <a:bodyPr/>
        <a:lstStyle/>
        <a:p>
          <a:endParaRPr lang="en-US"/>
        </a:p>
      </dgm:t>
    </dgm:pt>
    <dgm:pt modelId="{E6832865-FA3A-4164-A13E-2331F2BF9051}">
      <dgm:prSet custT="1"/>
      <dgm:spPr>
        <a:solidFill>
          <a:srgbClr val="FFD8CC"/>
        </a:solidFill>
      </dgm:spPr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Queried the processed data using </a:t>
          </a:r>
          <a:r>
            <a:rPr lang="en-US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Athena for analysis</a:t>
          </a:r>
        </a:p>
      </dgm:t>
    </dgm:pt>
    <dgm:pt modelId="{4A59CA6B-1E29-4286-B6B5-54E3C7117E88}" type="parTrans" cxnId="{91702F16-A90D-4B35-B4D7-9B61BC667B5E}">
      <dgm:prSet/>
      <dgm:spPr/>
      <dgm:t>
        <a:bodyPr/>
        <a:lstStyle/>
        <a:p>
          <a:endParaRPr lang="en-US"/>
        </a:p>
      </dgm:t>
    </dgm:pt>
    <dgm:pt modelId="{C98A91D1-19AA-489E-8A3D-93360305D8D1}" type="sibTrans" cxnId="{91702F16-A90D-4B35-B4D7-9B61BC667B5E}">
      <dgm:prSet/>
      <dgm:spPr/>
      <dgm:t>
        <a:bodyPr/>
        <a:lstStyle/>
        <a:p>
          <a:endParaRPr lang="en-US"/>
        </a:p>
      </dgm:t>
    </dgm:pt>
    <dgm:pt modelId="{141B56A1-855B-4281-A066-5B4D39942E12}" type="pres">
      <dgm:prSet presAssocID="{58DEEEA9-6C78-416B-8D99-C791EE68F693}" presName="diagram" presStyleCnt="0">
        <dgm:presLayoutVars>
          <dgm:dir/>
          <dgm:resizeHandles val="exact"/>
        </dgm:presLayoutVars>
      </dgm:prSet>
      <dgm:spPr/>
    </dgm:pt>
    <dgm:pt modelId="{3FE4444B-56B6-409C-B1B8-2C4FBC21B7D6}" type="pres">
      <dgm:prSet presAssocID="{1FC50C19-4FFB-4B55-A702-14DE64E6CE83}" presName="node" presStyleLbl="node1" presStyleIdx="0" presStyleCnt="6">
        <dgm:presLayoutVars>
          <dgm:bulletEnabled val="1"/>
        </dgm:presLayoutVars>
      </dgm:prSet>
      <dgm:spPr/>
    </dgm:pt>
    <dgm:pt modelId="{07350C92-4AED-41B5-81E3-6AE7D530CA0D}" type="pres">
      <dgm:prSet presAssocID="{B2297954-5750-407A-B981-D2B53518A2D8}" presName="sibTrans" presStyleCnt="0"/>
      <dgm:spPr/>
    </dgm:pt>
    <dgm:pt modelId="{F409BFC1-C72B-4976-8AC1-352D782768F2}" type="pres">
      <dgm:prSet presAssocID="{08BB4483-B3DC-4832-868E-08B42D8800CC}" presName="node" presStyleLbl="node1" presStyleIdx="1" presStyleCnt="6">
        <dgm:presLayoutVars>
          <dgm:bulletEnabled val="1"/>
        </dgm:presLayoutVars>
      </dgm:prSet>
      <dgm:spPr/>
    </dgm:pt>
    <dgm:pt modelId="{9C9B942C-DB3C-4007-8215-43788127760D}" type="pres">
      <dgm:prSet presAssocID="{3746BC26-422A-4930-9ECF-D4A18FA91125}" presName="sibTrans" presStyleCnt="0"/>
      <dgm:spPr/>
    </dgm:pt>
    <dgm:pt modelId="{295C1D7C-183C-4C4C-B585-82B80DAB0838}" type="pres">
      <dgm:prSet presAssocID="{4A03A979-59A6-4A30-BACF-52D1870C1864}" presName="node" presStyleLbl="node1" presStyleIdx="2" presStyleCnt="6">
        <dgm:presLayoutVars>
          <dgm:bulletEnabled val="1"/>
        </dgm:presLayoutVars>
      </dgm:prSet>
      <dgm:spPr/>
    </dgm:pt>
    <dgm:pt modelId="{1A5D3455-B09F-41C7-A9EF-2F1792A20186}" type="pres">
      <dgm:prSet presAssocID="{429DFC6E-F704-4751-A47E-C3CFEE2350FF}" presName="sibTrans" presStyleCnt="0"/>
      <dgm:spPr/>
    </dgm:pt>
    <dgm:pt modelId="{A814B951-9845-42D7-A724-E214BF0D6FC5}" type="pres">
      <dgm:prSet presAssocID="{AB2B6565-A7FF-473B-AE4F-E96ECABF5E9E}" presName="node" presStyleLbl="node1" presStyleIdx="3" presStyleCnt="6">
        <dgm:presLayoutVars>
          <dgm:bulletEnabled val="1"/>
        </dgm:presLayoutVars>
      </dgm:prSet>
      <dgm:spPr/>
    </dgm:pt>
    <dgm:pt modelId="{2B6D99E1-986B-4F4E-A76B-A5BBB6009F09}" type="pres">
      <dgm:prSet presAssocID="{0F6CE0A0-8175-4239-B9EF-AC5E9061D2E8}" presName="sibTrans" presStyleCnt="0"/>
      <dgm:spPr/>
    </dgm:pt>
    <dgm:pt modelId="{1E5F109E-72D7-49F2-93EC-6D296CA9EF8E}" type="pres">
      <dgm:prSet presAssocID="{A31CEB82-50A3-467A-B064-E3FD56387DAF}" presName="node" presStyleLbl="node1" presStyleIdx="4" presStyleCnt="6">
        <dgm:presLayoutVars>
          <dgm:bulletEnabled val="1"/>
        </dgm:presLayoutVars>
      </dgm:prSet>
      <dgm:spPr/>
    </dgm:pt>
    <dgm:pt modelId="{D30B4B2B-EC16-4475-B2FC-E629662DCCC6}" type="pres">
      <dgm:prSet presAssocID="{21C7C492-F30C-4DE3-921C-102477F9E2EC}" presName="sibTrans" presStyleCnt="0"/>
      <dgm:spPr/>
    </dgm:pt>
    <dgm:pt modelId="{A6D23A45-99E4-41C2-A087-E05030577D34}" type="pres">
      <dgm:prSet presAssocID="{E6832865-FA3A-4164-A13E-2331F2BF9051}" presName="node" presStyleLbl="node1" presStyleIdx="5" presStyleCnt="6">
        <dgm:presLayoutVars>
          <dgm:bulletEnabled val="1"/>
        </dgm:presLayoutVars>
      </dgm:prSet>
      <dgm:spPr/>
    </dgm:pt>
  </dgm:ptLst>
  <dgm:cxnLst>
    <dgm:cxn modelId="{BE98D012-1EA7-46E8-B7F4-2B053753AE95}" srcId="{58DEEEA9-6C78-416B-8D99-C791EE68F693}" destId="{AB2B6565-A7FF-473B-AE4F-E96ECABF5E9E}" srcOrd="3" destOrd="0" parTransId="{CED826E9-2D4D-42C0-8833-C711F4E562E8}" sibTransId="{0F6CE0A0-8175-4239-B9EF-AC5E9061D2E8}"/>
    <dgm:cxn modelId="{91702F16-A90D-4B35-B4D7-9B61BC667B5E}" srcId="{58DEEEA9-6C78-416B-8D99-C791EE68F693}" destId="{E6832865-FA3A-4164-A13E-2331F2BF9051}" srcOrd="5" destOrd="0" parTransId="{4A59CA6B-1E29-4286-B6B5-54E3C7117E88}" sibTransId="{C98A91D1-19AA-489E-8A3D-93360305D8D1}"/>
    <dgm:cxn modelId="{17A50A64-BC31-46FF-BB64-F06BBDFC88C6}" type="presOf" srcId="{08BB4483-B3DC-4832-868E-08B42D8800CC}" destId="{F409BFC1-C72B-4976-8AC1-352D782768F2}" srcOrd="0" destOrd="0" presId="urn:microsoft.com/office/officeart/2005/8/layout/default"/>
    <dgm:cxn modelId="{4638FF44-8CF5-41C6-9CB7-E520300FBFE1}" srcId="{58DEEEA9-6C78-416B-8D99-C791EE68F693}" destId="{08BB4483-B3DC-4832-868E-08B42D8800CC}" srcOrd="1" destOrd="0" parTransId="{24732D48-5391-4999-ADE4-3E0A6048DB4C}" sibTransId="{3746BC26-422A-4930-9ECF-D4A18FA91125}"/>
    <dgm:cxn modelId="{4D01B953-B5AD-49D4-B348-EA2EF9817DBB}" srcId="{58DEEEA9-6C78-416B-8D99-C791EE68F693}" destId="{1FC50C19-4FFB-4B55-A702-14DE64E6CE83}" srcOrd="0" destOrd="0" parTransId="{63F1785C-019E-4C86-A004-17258BF03B39}" sibTransId="{B2297954-5750-407A-B981-D2B53518A2D8}"/>
    <dgm:cxn modelId="{4D060D75-7F61-4617-B845-23FED99B90D1}" type="presOf" srcId="{58DEEEA9-6C78-416B-8D99-C791EE68F693}" destId="{141B56A1-855B-4281-A066-5B4D39942E12}" srcOrd="0" destOrd="0" presId="urn:microsoft.com/office/officeart/2005/8/layout/default"/>
    <dgm:cxn modelId="{CB63FA81-8FE5-4C71-A9BE-E93312968D1A}" type="presOf" srcId="{A31CEB82-50A3-467A-B064-E3FD56387DAF}" destId="{1E5F109E-72D7-49F2-93EC-6D296CA9EF8E}" srcOrd="0" destOrd="0" presId="urn:microsoft.com/office/officeart/2005/8/layout/default"/>
    <dgm:cxn modelId="{1F1F268F-EE1F-4BBF-807A-746A8E8CD31E}" srcId="{58DEEEA9-6C78-416B-8D99-C791EE68F693}" destId="{A31CEB82-50A3-467A-B064-E3FD56387DAF}" srcOrd="4" destOrd="0" parTransId="{F212538C-E747-446E-81C3-1FA39C855769}" sibTransId="{21C7C492-F30C-4DE3-921C-102477F9E2EC}"/>
    <dgm:cxn modelId="{891A1192-5910-4A09-A298-C8C801AB0A71}" srcId="{58DEEEA9-6C78-416B-8D99-C791EE68F693}" destId="{4A03A979-59A6-4A30-BACF-52D1870C1864}" srcOrd="2" destOrd="0" parTransId="{A5165D23-FA84-41F1-9080-8A3869788124}" sibTransId="{429DFC6E-F704-4751-A47E-C3CFEE2350FF}"/>
    <dgm:cxn modelId="{5F39C0C1-3995-4618-9676-C323395B8BAB}" type="presOf" srcId="{4A03A979-59A6-4A30-BACF-52D1870C1864}" destId="{295C1D7C-183C-4C4C-B585-82B80DAB0838}" srcOrd="0" destOrd="0" presId="urn:microsoft.com/office/officeart/2005/8/layout/default"/>
    <dgm:cxn modelId="{1AFD8ED9-A8E9-4423-84DC-EA869AB91F26}" type="presOf" srcId="{AB2B6565-A7FF-473B-AE4F-E96ECABF5E9E}" destId="{A814B951-9845-42D7-A724-E214BF0D6FC5}" srcOrd="0" destOrd="0" presId="urn:microsoft.com/office/officeart/2005/8/layout/default"/>
    <dgm:cxn modelId="{85FD89E9-5A04-4D98-806F-D598732F5F0A}" type="presOf" srcId="{1FC50C19-4FFB-4B55-A702-14DE64E6CE83}" destId="{3FE4444B-56B6-409C-B1B8-2C4FBC21B7D6}" srcOrd="0" destOrd="0" presId="urn:microsoft.com/office/officeart/2005/8/layout/default"/>
    <dgm:cxn modelId="{12610FF7-7BC6-479B-AFF2-5E9943963036}" type="presOf" srcId="{E6832865-FA3A-4164-A13E-2331F2BF9051}" destId="{A6D23A45-99E4-41C2-A087-E05030577D34}" srcOrd="0" destOrd="0" presId="urn:microsoft.com/office/officeart/2005/8/layout/default"/>
    <dgm:cxn modelId="{00B15CEC-D8D2-4552-A9CD-E86FE1B1CDBB}" type="presParOf" srcId="{141B56A1-855B-4281-A066-5B4D39942E12}" destId="{3FE4444B-56B6-409C-B1B8-2C4FBC21B7D6}" srcOrd="0" destOrd="0" presId="urn:microsoft.com/office/officeart/2005/8/layout/default"/>
    <dgm:cxn modelId="{4A93A84E-178F-43ED-BD10-0E596A51B8D8}" type="presParOf" srcId="{141B56A1-855B-4281-A066-5B4D39942E12}" destId="{07350C92-4AED-41B5-81E3-6AE7D530CA0D}" srcOrd="1" destOrd="0" presId="urn:microsoft.com/office/officeart/2005/8/layout/default"/>
    <dgm:cxn modelId="{1C48D66E-084D-4FAF-8702-05F7F7A76FA6}" type="presParOf" srcId="{141B56A1-855B-4281-A066-5B4D39942E12}" destId="{F409BFC1-C72B-4976-8AC1-352D782768F2}" srcOrd="2" destOrd="0" presId="urn:microsoft.com/office/officeart/2005/8/layout/default"/>
    <dgm:cxn modelId="{B5628F37-864F-4BE5-ACF5-E6A517AC6105}" type="presParOf" srcId="{141B56A1-855B-4281-A066-5B4D39942E12}" destId="{9C9B942C-DB3C-4007-8215-43788127760D}" srcOrd="3" destOrd="0" presId="urn:microsoft.com/office/officeart/2005/8/layout/default"/>
    <dgm:cxn modelId="{39852535-134D-49FD-A6C2-3F3731372DB7}" type="presParOf" srcId="{141B56A1-855B-4281-A066-5B4D39942E12}" destId="{295C1D7C-183C-4C4C-B585-82B80DAB0838}" srcOrd="4" destOrd="0" presId="urn:microsoft.com/office/officeart/2005/8/layout/default"/>
    <dgm:cxn modelId="{E02891E4-3FE2-452B-B1E4-6C8FC8181415}" type="presParOf" srcId="{141B56A1-855B-4281-A066-5B4D39942E12}" destId="{1A5D3455-B09F-41C7-A9EF-2F1792A20186}" srcOrd="5" destOrd="0" presId="urn:microsoft.com/office/officeart/2005/8/layout/default"/>
    <dgm:cxn modelId="{4C0AF89F-695B-49F0-A1AA-F765C96133D0}" type="presParOf" srcId="{141B56A1-855B-4281-A066-5B4D39942E12}" destId="{A814B951-9845-42D7-A724-E214BF0D6FC5}" srcOrd="6" destOrd="0" presId="urn:microsoft.com/office/officeart/2005/8/layout/default"/>
    <dgm:cxn modelId="{D1E00BBA-41E1-49D8-BF7C-2FC9292F2ACF}" type="presParOf" srcId="{141B56A1-855B-4281-A066-5B4D39942E12}" destId="{2B6D99E1-986B-4F4E-A76B-A5BBB6009F09}" srcOrd="7" destOrd="0" presId="urn:microsoft.com/office/officeart/2005/8/layout/default"/>
    <dgm:cxn modelId="{DCD9C8B8-2CA4-4E69-8A61-BB146E8E6F4E}" type="presParOf" srcId="{141B56A1-855B-4281-A066-5B4D39942E12}" destId="{1E5F109E-72D7-49F2-93EC-6D296CA9EF8E}" srcOrd="8" destOrd="0" presId="urn:microsoft.com/office/officeart/2005/8/layout/default"/>
    <dgm:cxn modelId="{9D8D8A73-4084-497A-ACB6-3E6B736A8703}" type="presParOf" srcId="{141B56A1-855B-4281-A066-5B4D39942E12}" destId="{D30B4B2B-EC16-4475-B2FC-E629662DCCC6}" srcOrd="9" destOrd="0" presId="urn:microsoft.com/office/officeart/2005/8/layout/default"/>
    <dgm:cxn modelId="{8F3CDAEB-AEA4-4AC5-B30B-99CFA50EEACF}" type="presParOf" srcId="{141B56A1-855B-4281-A066-5B4D39942E12}" destId="{A6D23A45-99E4-41C2-A087-E05030577D3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4444B-56B6-409C-B1B8-2C4FBC21B7D6}">
      <dsp:nvSpPr>
        <dsp:cNvPr id="0" name=""/>
        <dsp:cNvSpPr/>
      </dsp:nvSpPr>
      <dsp:spPr>
        <a:xfrm>
          <a:off x="0" y="132905"/>
          <a:ext cx="3329243" cy="1997546"/>
        </a:xfrm>
        <a:prstGeom prst="rect">
          <a:avLst/>
        </a:prstGeom>
        <a:solidFill>
          <a:srgbClr val="FFD8CC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Built an </a:t>
          </a:r>
          <a:r>
            <a:rPr lang="en-US" sz="2200" b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end-to-end ETL pipeline using AWS services and Airflow</a:t>
          </a:r>
        </a:p>
      </dsp:txBody>
      <dsp:txXfrm>
        <a:off x="0" y="132905"/>
        <a:ext cx="3329243" cy="1997546"/>
      </dsp:txXfrm>
    </dsp:sp>
    <dsp:sp modelId="{F409BFC1-C72B-4976-8AC1-352D782768F2}">
      <dsp:nvSpPr>
        <dsp:cNvPr id="0" name=""/>
        <dsp:cNvSpPr/>
      </dsp:nvSpPr>
      <dsp:spPr>
        <a:xfrm>
          <a:off x="3662167" y="132905"/>
          <a:ext cx="3329243" cy="1997546"/>
        </a:xfrm>
        <a:prstGeom prst="rect">
          <a:avLst/>
        </a:prstGeom>
        <a:solidFill>
          <a:srgbClr val="FFD8CC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Used </a:t>
          </a:r>
          <a:r>
            <a:rPr lang="en-US" sz="2200" b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Lambda to collect API data and store it in S3 in Parquet format</a:t>
          </a:r>
        </a:p>
      </dsp:txBody>
      <dsp:txXfrm>
        <a:off x="3662167" y="132905"/>
        <a:ext cx="3329243" cy="1997546"/>
      </dsp:txXfrm>
    </dsp:sp>
    <dsp:sp modelId="{295C1D7C-183C-4C4C-B585-82B80DAB0838}">
      <dsp:nvSpPr>
        <dsp:cNvPr id="0" name=""/>
        <dsp:cNvSpPr/>
      </dsp:nvSpPr>
      <dsp:spPr>
        <a:xfrm>
          <a:off x="7324335" y="132905"/>
          <a:ext cx="3329243" cy="1997546"/>
        </a:xfrm>
        <a:prstGeom prst="rect">
          <a:avLst/>
        </a:prstGeom>
        <a:solidFill>
          <a:srgbClr val="FFD8CC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Processed and cleaned the data using </a:t>
          </a:r>
          <a:r>
            <a:rPr lang="en-US" sz="2200" b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AWS Glue with Spark</a:t>
          </a:r>
        </a:p>
      </dsp:txBody>
      <dsp:txXfrm>
        <a:off x="7324335" y="132905"/>
        <a:ext cx="3329243" cy="1997546"/>
      </dsp:txXfrm>
    </dsp:sp>
    <dsp:sp modelId="{A814B951-9845-42D7-A724-E214BF0D6FC5}">
      <dsp:nvSpPr>
        <dsp:cNvPr id="0" name=""/>
        <dsp:cNvSpPr/>
      </dsp:nvSpPr>
      <dsp:spPr>
        <a:xfrm>
          <a:off x="0" y="2463376"/>
          <a:ext cx="3329243" cy="1997546"/>
        </a:xfrm>
        <a:prstGeom prst="rect">
          <a:avLst/>
        </a:prstGeom>
        <a:solidFill>
          <a:srgbClr val="FFD8CC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Stored the transformed data back in </a:t>
          </a:r>
          <a:r>
            <a:rPr lang="en-US" sz="2200" b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S3 for further usage</a:t>
          </a:r>
        </a:p>
      </dsp:txBody>
      <dsp:txXfrm>
        <a:off x="0" y="2463376"/>
        <a:ext cx="3329243" cy="1997546"/>
      </dsp:txXfrm>
    </dsp:sp>
    <dsp:sp modelId="{1E5F109E-72D7-49F2-93EC-6D296CA9EF8E}">
      <dsp:nvSpPr>
        <dsp:cNvPr id="0" name=""/>
        <dsp:cNvSpPr/>
      </dsp:nvSpPr>
      <dsp:spPr>
        <a:xfrm>
          <a:off x="3662167" y="2463376"/>
          <a:ext cx="3329243" cy="1997546"/>
        </a:xfrm>
        <a:prstGeom prst="rect">
          <a:avLst/>
        </a:prstGeom>
        <a:solidFill>
          <a:srgbClr val="FFD8CC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Used </a:t>
          </a:r>
          <a:r>
            <a:rPr lang="en-US" sz="2200" b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Airflow DAG to automate and manage the workflow execution</a:t>
          </a:r>
        </a:p>
      </dsp:txBody>
      <dsp:txXfrm>
        <a:off x="3662167" y="2463376"/>
        <a:ext cx="3329243" cy="1997546"/>
      </dsp:txXfrm>
    </dsp:sp>
    <dsp:sp modelId="{A6D23A45-99E4-41C2-A087-E05030577D34}">
      <dsp:nvSpPr>
        <dsp:cNvPr id="0" name=""/>
        <dsp:cNvSpPr/>
      </dsp:nvSpPr>
      <dsp:spPr>
        <a:xfrm>
          <a:off x="7324335" y="2463376"/>
          <a:ext cx="3329243" cy="1997546"/>
        </a:xfrm>
        <a:prstGeom prst="rect">
          <a:avLst/>
        </a:prstGeom>
        <a:solidFill>
          <a:srgbClr val="FFD8CC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Queried the processed data using </a:t>
          </a:r>
          <a:r>
            <a:rPr lang="en-US" sz="2200" b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Athena for analysis</a:t>
          </a:r>
        </a:p>
      </dsp:txBody>
      <dsp:txXfrm>
        <a:off x="7324335" y="2463376"/>
        <a:ext cx="3329243" cy="1997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8B790-F580-4840-AFF1-991E064D073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C23EE-C2FB-414C-9818-FB1B02F1C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31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808CA-4443-49FA-92A2-0F77E66C1D3F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3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67FCF-39B1-407A-BAF8-1F794A1E233F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37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AE7-1A36-4695-A03C-D5267F9F679E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8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B4CF-91D8-4EBC-9C85-B8D17032D0C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7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F3D-B972-4318-9FCC-300B8B34086B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94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4416-8D96-443E-B640-2BD1E7E3684B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9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DEE3-5032-4ECE-B1D7-B67203D2378A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0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7CCEC-70EE-4B89-A4A4-0C2DB82C75DB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3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FC5E-CD50-4750-94B8-60C93B5617E6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71A4-8060-4E22-86AA-38F4C63628D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14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084F-005D-4BAA-82FA-FAAA182353EE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80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87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8C08-34FE-0E0E-C82E-D716E266E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20057-FB4B-8529-491D-8348FEAA4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03098-FBDC-FC4E-20EA-D96604E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6AD2F-1AB8-4612-8F23-6732B5CEBAE8}" type="datetime1">
              <a:rPr lang="en-US" smtClean="0"/>
              <a:t>6/1/2026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B08F5-3C3E-FFFB-2977-CEBA0197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E930C-0195-D49B-7F0E-9F318EE8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025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B783-F67A-B87F-0A4C-A3577A53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DBEC4-D6C0-CE93-45CF-BEB0F9A0F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6832-D84C-4D00-E249-93FB077B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E65-DB47-4629-93AA-1711F3B26C40}" type="datetime1">
              <a:rPr lang="en-US" smtClean="0"/>
              <a:t>6/1/2026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F64CD-D9F7-D46A-3807-F725F622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C84AB-4C3C-0AAC-6D1C-B05422F8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75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7896-7400-4B0E-9EBA-FBC7F1CE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7D901-0745-B582-C268-3C53593D5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E4E73-76B8-6475-F0C1-EC5C0A8F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025E-AF02-4E89-9BCB-7F2F8AAC037F}" type="datetime1">
              <a:rPr lang="en-US" smtClean="0"/>
              <a:t>6/1/2026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9A2E6-6B9A-BBB1-FE89-A2B09F0E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6CBC4-96DB-5457-9D90-A118A8D2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250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72B6-FFD1-CD54-F079-CDE53D92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EB92-75B8-0F5C-E8E7-ADC162603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2CFA1-400C-FEEA-905A-F39540823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448A8-8FB6-4635-B73B-8720CB3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F133-19C9-4BFE-A4A9-427E7D329350}" type="datetime1">
              <a:rPr lang="en-US" smtClean="0"/>
              <a:t>6/1/2026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35E76-4BB5-F9C7-DCAD-6AC29AF6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B56B-E0DF-40D7-EF42-B85C92DD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06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5F07-75E2-BB51-1B78-4EE4E4709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97B6C-029F-E07E-BDFE-6CC99E319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2F634-D6A1-7D8F-3671-D3EF844C3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80A0C-A083-DE24-1637-F01C4343D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46356-A767-E81E-25F1-24AFB6E9C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646154-7A41-4CA8-6E2F-FBCCA9C1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48D4-3484-42B4-B8E9-94717DE211AF}" type="datetime1">
              <a:rPr lang="en-US" smtClean="0"/>
              <a:t>6/1/2026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1DF601-F912-43FE-5CA4-7049F959D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76CE-62B5-AE74-683B-55128E4F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985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D683-90A4-D92C-AAF0-A874834FE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90077-37F0-963C-B34E-D728A4B8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A971-D70B-4777-BD90-5B636F50C74D}" type="datetime1">
              <a:rPr lang="en-US" smtClean="0"/>
              <a:t>6/1/2026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1DB88-6B85-79E0-E9F1-71F2F329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EF2D1-EAC6-17A0-7BFD-173838CB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951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284BE2-4257-AC9C-A520-6CBC82763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FA83-B04E-4C45-86AC-431E6A847BFF}" type="datetime1">
              <a:rPr lang="en-US" smtClean="0"/>
              <a:t>6/1/2026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8D23C-BBB6-2502-F561-AB435F798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9DC7B-080F-C33B-DD5F-AB559626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9249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2BB7-8BB0-62C4-0FA9-971B47B4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22193-712B-79A3-D5AF-C58483604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DBE73-3399-50EE-EF94-A9E0C313C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787D6-7F68-7763-4F3C-3FCA5B7FD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DF3F0-1ED6-463A-8C1E-CC6EC7A7288C}" type="datetime1">
              <a:rPr lang="en-US" smtClean="0"/>
              <a:t>6/1/2026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212E4-DD90-9E6A-69EC-5C67AADA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1A19-3490-097F-6A17-5947B28F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8236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4C9A-F3C1-08DA-F05E-C2402E49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057A29-0A9A-40C2-ACAD-8B24976F2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ED48D-DE00-BC8B-929F-849D2490B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DC615-EC91-8C5D-6540-69479782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C5E5-79CD-46F9-B759-92DD5CA68503}" type="datetime1">
              <a:rPr lang="en-US" smtClean="0"/>
              <a:t>6/1/2026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4F784-2F91-509E-C604-785D3C6C8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628AA-2B90-A71D-D906-C25EC2D0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469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4537-EDDC-6405-8EFC-22D42F26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8B04B-C55E-7416-6F21-6F4654213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DE70F-B1EA-2760-39FE-636A8A429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2686-FB10-45CC-8C97-D86797C6D5E0}" type="datetime1">
              <a:rPr lang="en-US" smtClean="0"/>
              <a:t>6/1/2026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546D6-E871-3368-0C1F-F94DB8E6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E7A4D-E8A2-C59B-CA37-DE2AF061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158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E0885E-94DA-8F84-74FB-1D30EC250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426BB-C620-3926-C662-8EADD39E1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4D1E5-2AC3-0814-9F24-B37C3A5F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8658A-156A-4B4E-8E8C-7268A6CB39CB}" type="datetime1">
              <a:rPr lang="en-US" smtClean="0"/>
              <a:t>6/1/2026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E7FFC-3302-ED60-4732-3327A52E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ECC6D-4C6A-F642-E59B-A1D6B937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9210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7719DBC8-1C65-EC71-F260-3E45E00F725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83178-61A2-1584-1F52-83BAE0FEDB3A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fld id="{FF193D42-ED9C-471B-82CA-6FC32D27F6C3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81A84-1437-02DB-19FA-F60FE73CB356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63D62-2A4A-9126-8811-8637F26ADA0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pPr algn="r"/>
            <a:fld id="{5D9A5160-6218-4E5A-B9E6-B93E3DAE377C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064AC36F-9D88-0AFF-0D23-B3207730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056" y="549274"/>
            <a:ext cx="5042266" cy="930372"/>
          </a:xfrm>
          <a:prstGeom prst="rect">
            <a:avLst/>
          </a:prstGeom>
        </p:spPr>
        <p:txBody>
          <a:bodyPr vert="horz" lIns="0" tIns="0" rIns="0" bIns="12600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7152031-1FC0-032B-F3DB-6C7DECFE02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85993" y="2007152"/>
            <a:ext cx="5054623" cy="3693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397C058-DED2-A927-F1FC-4D2262C4D8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5993" y="2599765"/>
            <a:ext cx="5054623" cy="3693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7FFBEBF-84C6-4981-C2E8-C48E0CF9A3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5993" y="3192378"/>
            <a:ext cx="5054623" cy="3693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B50E875C-17E2-59C2-ADA9-61BD0E75B16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85993" y="3784991"/>
            <a:ext cx="5054623" cy="3693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9420F04-AF69-214B-65E6-46E3677153F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85993" y="4377605"/>
            <a:ext cx="5054623" cy="3693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789EDD1-6A88-C664-0739-2CFCD04A7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85993" y="4970219"/>
            <a:ext cx="5054623" cy="3693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92337BD-72AF-D589-5EEB-9C85E19A68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5993" y="5562833"/>
            <a:ext cx="5054623" cy="3693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071790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BB1339-F341-E41B-4A76-E0462FDC1FEA}"/>
              </a:ext>
            </a:extLst>
          </p:cNvPr>
          <p:cNvSpPr/>
          <p:nvPr userDrawn="1"/>
        </p:nvSpPr>
        <p:spPr>
          <a:xfrm rot="16200000">
            <a:off x="-50850" y="3339001"/>
            <a:ext cx="6857998" cy="180000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21A38"/>
              </a:gs>
              <a:gs pos="30000">
                <a:srgbClr val="0058AB"/>
              </a:gs>
              <a:gs pos="70000">
                <a:srgbClr val="1DB7F3"/>
              </a:gs>
            </a:gsLst>
            <a:lin ang="0" scaled="0"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L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1E274-2B57-BD57-2F68-DBB426EFCE6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fld id="{C1614413-2388-4995-BDC1-32D8828782C8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E6D32-8A75-0D6E-E71F-DAACF84605E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7DCB7-EB08-EC5A-73FF-FB5F850C5C2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 algn="r"/>
            <a:fld id="{5D9A5160-6218-4E5A-B9E6-B93E3DAE377C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4666C08-BC72-FDBE-1461-F2EECABF4D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33" y="0"/>
            <a:ext cx="2736304" cy="2924175"/>
          </a:xfrm>
        </p:spPr>
        <p:txBody>
          <a:bodyPr vert="vert270" wrap="none" lIns="0" tIns="0" rIns="0" bIns="0" rtlCol="0" anchor="t" anchorCtr="0">
            <a:noAutofit/>
          </a:bodyPr>
          <a:lstStyle>
            <a:lvl1pPr>
              <a:defRPr lang="en-US" sz="16600" b="0" cap="none" spc="0" baseline="0" dirty="0" smtClean="0"/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0B6F8127-33BC-B324-58CF-854CD4CB94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3696" y="1510496"/>
            <a:ext cx="7393343" cy="2887883"/>
          </a:xfrm>
        </p:spPr>
        <p:txBody>
          <a:bodyPr vert="horz" lIns="0" tIns="0" rIns="0" bIns="0" rtlCol="0" anchor="t">
            <a:noAutofit/>
          </a:bodyPr>
          <a:lstStyle>
            <a:lvl1pPr>
              <a:spcBef>
                <a:spcPts val="0"/>
              </a:spcBef>
              <a:defRPr lang="en-US" sz="5400">
                <a:latin typeface="+mn-lt"/>
                <a:ea typeface="+mn-ea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</a:pPr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99536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C3BF951-3D24-4AA2-BB03-6CF48281E13A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984BA5-9CB8-80B1-7F7A-17A83A0D5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70F78-CCC3-E02D-32DE-D8BA289D8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F4780-0575-414F-C953-24538AF3B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C678C-B717-4F75-9BD4-6E1021AC5FCC}" type="datetime1">
              <a:rPr lang="en-US" smtClean="0"/>
              <a:t>6/1/2026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B15D0-E4CC-2D8B-661B-E151EA1F7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C9BB3-CECC-AD81-5306-BEA9203F5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4B6AE-4A14-4DB1-B568-1630196522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57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196EAA-1572-D736-E840-2252BA0F1C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7511" y="2925785"/>
            <a:ext cx="11356975" cy="1006429"/>
          </a:xfrm>
        </p:spPr>
        <p:txBody>
          <a:bodyPr/>
          <a:lstStyle/>
          <a:p>
            <a:r>
              <a:rPr lang="en-US" sz="6600">
                <a:solidFill>
                  <a:srgbClr val="FBF9F6"/>
                </a:solidFill>
                <a:latin typeface="Arial Rounded MT Bold" panose="020F0704030504030204" pitchFamily="34" charset="0"/>
              </a:rPr>
              <a:t>API DATA ANALYTICS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6FEB34-9A18-5520-08B4-AC2F3B901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2" t="11319" r="70675" b="63243"/>
          <a:stretch>
            <a:fillRect/>
          </a:stretch>
        </p:blipFill>
        <p:spPr>
          <a:xfrm>
            <a:off x="8042786" y="5487818"/>
            <a:ext cx="943897" cy="845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5D29DB-1011-3532-03FD-2E7641B19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09" t="46787" r="54225" b="25276"/>
          <a:stretch>
            <a:fillRect/>
          </a:stretch>
        </p:blipFill>
        <p:spPr>
          <a:xfrm>
            <a:off x="10540184" y="5334195"/>
            <a:ext cx="1179871" cy="9324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79C329-1E05-AF7B-8B7A-03FE5585A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29" t="46903" r="26336" b="24724"/>
          <a:stretch>
            <a:fillRect/>
          </a:stretch>
        </p:blipFill>
        <p:spPr>
          <a:xfrm>
            <a:off x="8927693" y="5269696"/>
            <a:ext cx="1096296" cy="10614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E61C67-658A-2725-7303-A29235E33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80" r="13236" b="64333"/>
          <a:stretch>
            <a:fillRect/>
          </a:stretch>
        </p:blipFill>
        <p:spPr>
          <a:xfrm>
            <a:off x="9871590" y="5132077"/>
            <a:ext cx="904568" cy="11959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0CA12B-A0D6-04B9-B1C8-538649493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55" t="9779" r="41617" b="63308"/>
          <a:stretch>
            <a:fillRect/>
          </a:stretch>
        </p:blipFill>
        <p:spPr>
          <a:xfrm>
            <a:off x="7026575" y="5416486"/>
            <a:ext cx="1000031" cy="10064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9433594-36C2-247D-A4AD-BEF38F27F2A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2C2B2D"/>
              </a:clrFrom>
              <a:clrTo>
                <a:srgbClr val="2C2B2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81" t="33481" r="24519" b="34519"/>
          <a:stretch>
            <a:fillRect/>
          </a:stretch>
        </p:blipFill>
        <p:spPr>
          <a:xfrm>
            <a:off x="5080379" y="850756"/>
            <a:ext cx="2031241" cy="124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4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34992-BFAB-DFE3-67F4-E3B652E36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93612E1-9025-0327-ACBD-6CD06C707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23" y="736978"/>
            <a:ext cx="10148637" cy="930372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3CA2C4-C072-5237-F17E-71AB73EAD60C}"/>
              </a:ext>
            </a:extLst>
          </p:cNvPr>
          <p:cNvSpPr txBox="1"/>
          <p:nvPr/>
        </p:nvSpPr>
        <p:spPr>
          <a:xfrm>
            <a:off x="1276188" y="1382783"/>
            <a:ext cx="1007761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Sponsor     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	 Mishra, Anuradha &amp; Rohit Vijay</a:t>
            </a:r>
          </a:p>
          <a:p>
            <a:pPr algn="just"/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  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    Aishwarya </a:t>
            </a:r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Kulkrni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&amp; Purnima Sabharwal</a:t>
            </a:r>
          </a:p>
          <a:p>
            <a:pPr algn="just"/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 Coordinator   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  Mohammed Khader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 	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Bhagyaraj </a:t>
            </a:r>
            <a:r>
              <a:rPr lang="en-US" sz="20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Gopalam</a:t>
            </a:r>
            <a:r>
              <a:rPr lang="en-US" sz="20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just"/>
            <a:br>
              <a:rPr lang="en-US" sz="20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Developers 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Pranay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Bollikonda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Koyna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Jatwar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Vidhan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Somkuwar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Katta 			              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RamShashank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Reddy, Alekhya Lakshmi, Jayshree Gupta, Harika 			Kolluru, Sanjay Botta, Harsha Bellamkonda Venkata Sai Sriram, 			Avula Sangeetha, Nakka Saritha, Nerusupalli Meher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Freiney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Rajoli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			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ThrishaReddy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Akshat, Ashutosh Kumar,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Soujit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Das, Harshit Jajoo, 			Sagar Singh, Mani Raj Chaturvedi</a:t>
            </a:r>
          </a:p>
          <a:p>
            <a:pPr algn="just"/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E7E61A1-403A-D1EF-7230-E3DFA1DA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B69A-0DD5-4F75-B6C2-E0A7191E3C93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55B5A-92C9-2734-C091-838FABC8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6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water with white text&#10;&#10;AI-generated content may be incorrect.">
            <a:extLst>
              <a:ext uri="{FF2B5EF4-FFF2-40B4-BE49-F238E27FC236}">
                <a16:creationId xmlns:a16="http://schemas.microsoft.com/office/drawing/2014/main" id="{B7E93064-A4E2-72B3-2768-E008588828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403"/>
          <a:stretch>
            <a:fillRect/>
          </a:stretch>
        </p:blipFill>
        <p:spPr>
          <a:xfrm>
            <a:off x="20" y="0"/>
            <a:ext cx="3608419" cy="6858000"/>
          </a:xfrm>
          <a:prstGeom prst="rect">
            <a:avLst/>
          </a:prstGeom>
          <a:noFill/>
        </p:spPr>
      </p:pic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E0619D3-7EFF-DCDF-1DF9-8ACDF180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BBBE04A-A9A8-4B6F-84EB-E472D1CE6791}" type="datetime1">
              <a:rPr lang="en-US" smtClean="0"/>
              <a:t>6/1/2026</a:t>
            </a:fld>
            <a:endParaRPr lang="en-US"/>
          </a:p>
        </p:txBody>
      </p:sp>
      <p:pic>
        <p:nvPicPr>
          <p:cNvPr id="9" name="Picture 8" descr="A blue water with white text&#10;&#10;AI-generated content may be incorrect.">
            <a:extLst>
              <a:ext uri="{FF2B5EF4-FFF2-40B4-BE49-F238E27FC236}">
                <a16:creationId xmlns:a16="http://schemas.microsoft.com/office/drawing/2014/main" id="{45BE6B9E-BF68-F778-99E4-DC81423A8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064"/>
          <a:stretch>
            <a:fillRect/>
          </a:stretch>
        </p:blipFill>
        <p:spPr>
          <a:xfrm>
            <a:off x="4094733" y="39873"/>
            <a:ext cx="6184490" cy="685800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F9412-D90F-3611-604E-5026FD8B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31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55BD70F-3C3F-E7DC-94A7-E40AB92A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E434FA-A8C5-FE77-DFB0-0B99F8D2C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semi-structured JSON data are generated from external APIs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This data cannot be directly used for analysis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Extracting, transforming, and loading API data into analytics platforms is complex and inefficient without automation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scalable data pipeline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Pull data from APIs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Process and structure the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Load it into Amazon Athena for efficient querying and analysis</a:t>
            </a:r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B16FA-8253-99F7-8806-371EA6D8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3351-1283-4A77-8137-FAD0A81652CA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BE9A-5E3D-2462-FCA6-D1F39EA4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1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8AE4-0801-DFCB-0BD7-19FE57FA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CB74-C734-E249-9974-D378D6B00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0022E-BC51-0BB9-145B-8F291AF0EC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5136" y="6492875"/>
            <a:ext cx="914399" cy="228600"/>
          </a:xfrm>
        </p:spPr>
        <p:txBody>
          <a:bodyPr/>
          <a:lstStyle/>
          <a:p>
            <a:fld id="{6C3297C9-208C-4BF5-BCE6-7648B5469DCB}" type="datetime1">
              <a:rPr lang="en-US" sz="900" smtClean="0"/>
              <a:t>6/1/2026</a:t>
            </a:fld>
            <a:endParaRPr lang="en-US" sz="90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21CE3A1-4EBE-AA43-0604-E50D9A469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9" b="5596"/>
          <a:stretch>
            <a:fillRect/>
          </a:stretch>
        </p:blipFill>
        <p:spPr>
          <a:xfrm>
            <a:off x="1784205" y="1556823"/>
            <a:ext cx="8191103" cy="46593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5A4232-8735-9BBB-CA20-BD8245FA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355" y="6424612"/>
            <a:ext cx="2743200" cy="365125"/>
          </a:xfrm>
        </p:spPr>
        <p:txBody>
          <a:bodyPr/>
          <a:lstStyle/>
          <a:p>
            <a:fld id="{5174B6AE-4A14-4DB1-B568-16301965221B}" type="slidenum">
              <a:rPr lang="en-IN" sz="900" smtClean="0"/>
              <a:t>5</a:t>
            </a:fld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251187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2BE05-BB14-CD59-6CB5-7A2E5E47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E927E1-BD41-CF6E-F00F-E039E7A84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3363" y="1132681"/>
            <a:ext cx="9185274" cy="45926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B5C80-7BCC-2624-D0B6-44A70B47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A8C-895C-46B4-8C7A-2447781FCC32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24F4D-1AA2-681F-1E5A-9F29D8B9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62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E333-FB5B-FF76-BD15-AACDB081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8DB69-6E33-5105-8A94-5487D194F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COMPUTE:                                                                 ORCHESTRATION:</a:t>
            </a:r>
          </a:p>
          <a:p>
            <a:pPr marL="0" indent="0">
              <a:buNone/>
            </a:pPr>
            <a:r>
              <a:rPr lang="en-US" b="1">
                <a:latin typeface="Times New Roman"/>
                <a:cs typeface="Times New Roman"/>
              </a:rPr>
              <a:t>                           </a:t>
            </a: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/>
                <a:cs typeface="Times New Roman"/>
              </a:rPr>
              <a:t>STORAGE:                                                                  MESSAGING: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MONITORING:                                                          SECURITY:                                                  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4" name="Picture 3" descr="A green and white logo&#10;&#10;AI-generated content may be incorrect.">
            <a:extLst>
              <a:ext uri="{FF2B5EF4-FFF2-40B4-BE49-F238E27FC236}">
                <a16:creationId xmlns:a16="http://schemas.microsoft.com/office/drawing/2014/main" id="{9AE2DC4D-D60C-DE39-1174-756E644C3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696" y="3147210"/>
            <a:ext cx="1160039" cy="1196931"/>
          </a:xfrm>
          <a:prstGeom prst="rect">
            <a:avLst/>
          </a:prstGeom>
        </p:spPr>
      </p:pic>
      <p:pic>
        <p:nvPicPr>
          <p:cNvPr id="5" name="Picture 4" descr="A logo with black text&#10;&#10;AI-generated content may be incorrect.">
            <a:extLst>
              <a:ext uri="{FF2B5EF4-FFF2-40B4-BE49-F238E27FC236}">
                <a16:creationId xmlns:a16="http://schemas.microsoft.com/office/drawing/2014/main" id="{741130CC-E776-6431-D1C0-0E1E38048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12" y="1823030"/>
            <a:ext cx="1081206" cy="1191027"/>
          </a:xfrm>
          <a:prstGeom prst="rect">
            <a:avLst/>
          </a:prstGeom>
        </p:spPr>
      </p:pic>
      <p:pic>
        <p:nvPicPr>
          <p:cNvPr id="6" name="Picture 5" descr="A logo with a colorful pinwheel&#10;&#10;AI-generated content may be incorrect.">
            <a:extLst>
              <a:ext uri="{FF2B5EF4-FFF2-40B4-BE49-F238E27FC236}">
                <a16:creationId xmlns:a16="http://schemas.microsoft.com/office/drawing/2014/main" id="{13F8F1FC-B35D-6D77-AE49-194B6F04AC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912"/>
          <a:stretch>
            <a:fillRect/>
          </a:stretch>
        </p:blipFill>
        <p:spPr>
          <a:xfrm>
            <a:off x="9428897" y="1770442"/>
            <a:ext cx="968157" cy="1296205"/>
          </a:xfrm>
          <a:prstGeom prst="rect">
            <a:avLst/>
          </a:prstGeom>
        </p:spPr>
      </p:pic>
      <p:pic>
        <p:nvPicPr>
          <p:cNvPr id="11" name="Picture 10" descr="AWS Glue | クラウドデータプラットフォーム | 製品・サービス | 株式会社ジール">
            <a:extLst>
              <a:ext uri="{FF2B5EF4-FFF2-40B4-BE49-F238E27FC236}">
                <a16:creationId xmlns:a16="http://schemas.microsoft.com/office/drawing/2014/main" id="{C943A9DD-DDFC-0F7A-07F6-380A8D0112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918" r="22879"/>
          <a:stretch>
            <a:fillRect/>
          </a:stretch>
        </p:blipFill>
        <p:spPr>
          <a:xfrm>
            <a:off x="4440753" y="1771803"/>
            <a:ext cx="1160039" cy="1409790"/>
          </a:xfrm>
          <a:prstGeom prst="rect">
            <a:avLst/>
          </a:prstGeom>
        </p:spPr>
      </p:pic>
      <p:pic>
        <p:nvPicPr>
          <p:cNvPr id="13" name="Picture 12" descr="CloudWatch">
            <a:extLst>
              <a:ext uri="{FF2B5EF4-FFF2-40B4-BE49-F238E27FC236}">
                <a16:creationId xmlns:a16="http://schemas.microsoft.com/office/drawing/2014/main" id="{CD00CAE0-4B29-4988-00EB-DF8BDEA156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832" r="8142"/>
          <a:stretch>
            <a:fillRect/>
          </a:stretch>
        </p:blipFill>
        <p:spPr>
          <a:xfrm>
            <a:off x="3069606" y="4712755"/>
            <a:ext cx="1434217" cy="1227991"/>
          </a:xfrm>
          <a:prstGeom prst="rect">
            <a:avLst/>
          </a:prstGeom>
        </p:spPr>
      </p:pic>
      <p:pic>
        <p:nvPicPr>
          <p:cNvPr id="15" name="Picture 14" descr="AWS IAM Essentials - Manage Access &amp; Security">
            <a:extLst>
              <a:ext uri="{FF2B5EF4-FFF2-40B4-BE49-F238E27FC236}">
                <a16:creationId xmlns:a16="http://schemas.microsoft.com/office/drawing/2014/main" id="{B9E7658A-F16C-9110-81BD-9906FE55D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0517" y="4432234"/>
            <a:ext cx="986538" cy="1212607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D33638-3214-83D6-7F80-350063D0F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CF34-48EF-4818-B11C-B9CF7A374800}" type="datetime1">
              <a:rPr lang="en-US" smtClean="0"/>
              <a:t>6/1/2026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FC3A6B0-89CB-D042-1522-CF1535E3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 descr="A yellow cube with black background&#10;&#10;AI-generated content may be incorrect.">
            <a:extLst>
              <a:ext uri="{FF2B5EF4-FFF2-40B4-BE49-F238E27FC236}">
                <a16:creationId xmlns:a16="http://schemas.microsoft.com/office/drawing/2014/main" id="{040A5DB8-2949-6CDA-DEC7-F651DA1905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7886" y="3014057"/>
            <a:ext cx="2010178" cy="129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51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07D6-4351-5BC7-46B9-9ADE51FD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4C510-DB54-2655-2F47-1A0AD2231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3F41C1F-D49B-45B2-849A-3635C4E610A7}" type="datetime1">
              <a:rPr lang="en-US" smtClean="0"/>
              <a:t>6/1/2026</a:t>
            </a:fld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D0C0A19-AA9F-8FC4-1EA2-CDD426FA0C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789386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FC667E-EC0F-EAEA-3886-AC0DD5CB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34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62742E5-2E36-DC86-9B97-6BE13C89B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30" y="470910"/>
            <a:ext cx="2778451" cy="1997666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S3 Bucket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79E232-D11F-0240-8027-5486466904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1364" b="6001"/>
          <a:stretch>
            <a:fillRect/>
          </a:stretch>
        </p:blipFill>
        <p:spPr>
          <a:xfrm>
            <a:off x="5103381" y="3234945"/>
            <a:ext cx="6223379" cy="2763984"/>
          </a:xfrm>
          <a:prstGeom prst="rect">
            <a:avLst/>
          </a:prstGeo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23A0800-8388-324C-2D50-81A5B30B5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5498" y="2424771"/>
            <a:ext cx="6571883" cy="3574158"/>
          </a:xfrm>
        </p:spPr>
        <p:txBody>
          <a:bodyPr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Used as a data lake storage for the pipeline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Stores API data in JSON format (input configuration)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Stores processed data in Parquet format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Provides high scalability, durability, and cost-effective storage</a:t>
            </a:r>
          </a:p>
          <a:p>
            <a:r>
              <a:rPr lang="en-US">
                <a:ea typeface="+mn-lt"/>
                <a:cs typeface="+mn-lt"/>
              </a:rPr>
              <a:t>Maintains separate folders for: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Raw Data (API output)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Refined Data (Glue output)</a:t>
            </a:r>
          </a:p>
          <a:p>
            <a:r>
              <a:rPr lang="en-US">
                <a:ea typeface="+mn-lt"/>
                <a:cs typeface="+mn-lt"/>
              </a:rPr>
              <a:t>Enables integration with: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Lambda (read/write data)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Glue (processing &amp; transformation)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Athena (querying data)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C9C92-DC15-E423-6D5E-372DCC907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0267FCF-39B1-407A-BAF8-1F794A1E233F}" type="datetime1">
              <a:rPr lang="en-US" smtClean="0"/>
              <a:pPr>
                <a:spcAft>
                  <a:spcPts val="600"/>
                </a:spcAft>
              </a:pPr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9F63C-F148-0959-2C40-BDBF0412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8" name="Picture 7" descr="A green and white logo&#10;&#10;AI-generated content may be incorrect.">
            <a:extLst>
              <a:ext uri="{FF2B5EF4-FFF2-40B4-BE49-F238E27FC236}">
                <a16:creationId xmlns:a16="http://schemas.microsoft.com/office/drawing/2014/main" id="{8E843B28-0344-DBD6-F399-82A990EFD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9005" y="682902"/>
            <a:ext cx="1160039" cy="11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9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F48845-0091-5872-A4FA-3348EAD7A8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4638" y="1139875"/>
            <a:ext cx="5661362" cy="267704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9" name="Content Placeholder 8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7130B69-21E4-376E-DFF4-CB014A8762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60026" y="3945730"/>
            <a:ext cx="5986738" cy="268993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AF637-0458-D70D-BC6D-70C119E5F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91DD7-4AB6-4440-8941-17830BB9559A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BE7DE-A8DF-E01A-48E1-6B20055429FA}"/>
              </a:ext>
            </a:extLst>
          </p:cNvPr>
          <p:cNvSpPr txBox="1"/>
          <p:nvPr/>
        </p:nvSpPr>
        <p:spPr>
          <a:xfrm>
            <a:off x="6944159" y="1206352"/>
            <a:ext cx="47377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IAM  is an AWS service that helps you securely control access to AWS resources.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 IAM Role is a set of permissions that allow AWS services to perform actions on your behalf.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988FA6-081E-910B-C1F5-44B038C3B61B}"/>
              </a:ext>
            </a:extLst>
          </p:cNvPr>
          <p:cNvSpPr txBox="1"/>
          <p:nvPr/>
        </p:nvSpPr>
        <p:spPr>
          <a:xfrm>
            <a:off x="3048762" y="7759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(Identity and Access Management) :</a:t>
            </a:r>
            <a:endParaRPr lang="en-IN" sz="2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EE4059-368F-7A3E-528F-419AEDBD7449}"/>
              </a:ext>
            </a:extLst>
          </p:cNvPr>
          <p:cNvSpPr txBox="1"/>
          <p:nvPr/>
        </p:nvSpPr>
        <p:spPr>
          <a:xfrm>
            <a:off x="1181630" y="4480768"/>
            <a:ext cx="41673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Here we have used this services: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AWS Lambda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S3Lambda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Glue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CloudWatch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SNS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632B6F-6716-D852-2BCF-7DCA3913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4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5A07-DA05-1B53-AD88-9CE4B2BB1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A5955D0D-165D-42F6-F963-140EA0C7E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Creating Lambda Functions 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19E8C3D-5CC8-64EE-224B-27ECDE3CC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What does these functions do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change API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file to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Parquet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file 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process the logs from 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Cloudwatch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send the SNS notification</a:t>
            </a:r>
          </a:p>
        </p:txBody>
      </p:sp>
      <p:pic>
        <p:nvPicPr>
          <p:cNvPr id="30" name="Content Placeholder 29" descr="A logo on a blue background&#10;&#10;AI-generated content may be incorrect.">
            <a:extLst>
              <a:ext uri="{FF2B5EF4-FFF2-40B4-BE49-F238E27FC236}">
                <a16:creationId xmlns:a16="http://schemas.microsoft.com/office/drawing/2014/main" id="{966CEDA3-3158-0F1E-A983-9323445146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2085" r="14842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  <p:sp>
        <p:nvSpPr>
          <p:cNvPr id="36" name="Date Placeholder 4">
            <a:extLst>
              <a:ext uri="{FF2B5EF4-FFF2-40B4-BE49-F238E27FC236}">
                <a16:creationId xmlns:a16="http://schemas.microsoft.com/office/drawing/2014/main" id="{95EB6DDC-07EB-1486-6EFE-9B9ABF6D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CE6A18C-A2A1-4F56-94B0-13133C50135B}" type="datetime1">
              <a:rPr lang="en-US" smtClean="0"/>
              <a:t>6/1/2026</a:t>
            </a:fld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A6F9A0-CD63-FB2E-CDD1-544CA218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93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BF13-24C1-B826-CE95-8B6FA5A5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 anchor="t">
            <a:normAutofit/>
          </a:bodyPr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Attaching the Role</a:t>
            </a:r>
          </a:p>
        </p:txBody>
      </p:sp>
      <p:pic>
        <p:nvPicPr>
          <p:cNvPr id="7" name="Content Placeholder 6" descr="A group of blue and orange cards with words&#10;&#10;AI-generated content may be incorrect.">
            <a:extLst>
              <a:ext uri="{FF2B5EF4-FFF2-40B4-BE49-F238E27FC236}">
                <a16:creationId xmlns:a16="http://schemas.microsoft.com/office/drawing/2014/main" id="{23681435-C75F-A781-1CA2-57CE9F2DEA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48050" y="2041579"/>
            <a:ext cx="4703046" cy="3167775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38201-EE0D-6C06-B6DD-592747D6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DB08A58-8229-4052-92EB-5E326F37AE17}" type="datetime1">
              <a:rPr lang="en-US" smtClean="0"/>
              <a:t>6/1/2026</a:t>
            </a:fld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B01A6DC-A4A9-F0C4-AF3A-304964B48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69364"/>
              </p:ext>
            </p:extLst>
          </p:nvPr>
        </p:nvGraphicFramePr>
        <p:xfrm>
          <a:off x="497237" y="2525511"/>
          <a:ext cx="6177185" cy="221303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3345942">
                  <a:extLst>
                    <a:ext uri="{9D8B030D-6E8A-4147-A177-3AD203B41FA5}">
                      <a16:colId xmlns:a16="http://schemas.microsoft.com/office/drawing/2014/main" val="291904104"/>
                    </a:ext>
                  </a:extLst>
                </a:gridCol>
                <a:gridCol w="2831243">
                  <a:extLst>
                    <a:ext uri="{9D8B030D-6E8A-4147-A177-3AD203B41FA5}">
                      <a16:colId xmlns:a16="http://schemas.microsoft.com/office/drawing/2014/main" val="1220975833"/>
                    </a:ext>
                  </a:extLst>
                </a:gridCol>
              </a:tblGrid>
              <a:tr h="442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it is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874252"/>
                  </a:ext>
                </a:extLst>
              </a:tr>
              <a:tr h="442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AmazonS3FullAccess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Read/write files from 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816349"/>
                  </a:ext>
                </a:extLst>
              </a:tr>
              <a:tr h="442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AWSLambdaBasicExecutionRole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759130"/>
                  </a:ext>
                </a:extLst>
              </a:tr>
              <a:tr h="442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CloudWatchReadOnlyAccess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logs/metrics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472393"/>
                  </a:ext>
                </a:extLst>
              </a:tr>
              <a:tr h="442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SNS Publish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 notifications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08993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492EE39-BAF9-7CA9-91C2-B64030F4C8AA}"/>
              </a:ext>
            </a:extLst>
          </p:cNvPr>
          <p:cNvSpPr txBox="1"/>
          <p:nvPr/>
        </p:nvSpPr>
        <p:spPr>
          <a:xfrm>
            <a:off x="583446" y="1283697"/>
            <a:ext cx="64123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Role has the set of permissions for the functions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8D7D4-3858-4FE3-AE22-7F2AD386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8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8BE21E3-D90F-88BC-C9B0-723E9008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522" y="974406"/>
            <a:ext cx="10547969" cy="735160"/>
          </a:xfrm>
        </p:spPr>
        <p:txBody>
          <a:bodyPr>
            <a:normAutofit fontScale="90000"/>
          </a:bodyPr>
          <a:lstStyle/>
          <a:p>
            <a:br>
              <a:rPr lang="en-US" sz="3000">
                <a:latin typeface="Times New Roman"/>
                <a:cs typeface="Times New Roman"/>
              </a:rPr>
            </a:br>
            <a:br>
              <a:rPr lang="en-US" sz="2200">
                <a:latin typeface="Times New Roman"/>
                <a:cs typeface="Times New Roman"/>
              </a:rPr>
            </a:br>
            <a:endParaRPr lang="en-US" sz="2100">
              <a:latin typeface="Times New Roman"/>
              <a:cs typeface="Times New Roman"/>
            </a:endParaRP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0C4A44-5701-D918-1E09-FD4EA73E19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904" y="343453"/>
            <a:ext cx="5670648" cy="3076386"/>
          </a:xfrm>
          <a:prstGeom prst="rect">
            <a:avLst/>
          </a:prstGeom>
          <a:noFill/>
          <a:effectLst>
            <a:softEdge rad="0"/>
          </a:effectLst>
        </p:spPr>
      </p:pic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BC4161-AD62-DE4B-F000-B4EFD388B6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1235" t="22261" r="-208" b="7420"/>
          <a:stretch>
            <a:fillRect/>
          </a:stretch>
        </p:blipFill>
        <p:spPr>
          <a:xfrm>
            <a:off x="6096584" y="3584636"/>
            <a:ext cx="5670648" cy="305287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9FBAC-6B08-4C7A-A0D5-951D23999E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433DF48-5B22-45E7-87C4-4C02E95D09EA}" type="datetime1">
              <a:rPr lang="en-US" smtClean="0"/>
              <a:t>6/1/2026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96C0DB-E56F-F67F-47D5-5F18A157AD59}"/>
              </a:ext>
            </a:extLst>
          </p:cNvPr>
          <p:cNvSpPr txBox="1"/>
          <p:nvPr/>
        </p:nvSpPr>
        <p:spPr>
          <a:xfrm>
            <a:off x="879522" y="1730273"/>
            <a:ext cx="4628886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latin typeface="Times New Roman"/>
                <a:ea typeface="Segoe UI"/>
                <a:cs typeface="Times New Roman"/>
              </a:rPr>
              <a:t>The first image shows the </a:t>
            </a:r>
            <a:r>
              <a:rPr lang="en-US" b="1" i="0">
                <a:latin typeface="Times New Roman"/>
                <a:ea typeface="Segoe UI"/>
                <a:cs typeface="Times New Roman"/>
              </a:rPr>
              <a:t>Amazon S3 bucket </a:t>
            </a:r>
            <a:r>
              <a:rPr lang="en-US">
                <a:latin typeface="Times New Roman"/>
                <a:ea typeface="Segoe UI"/>
                <a:cs typeface="Times New Roman"/>
              </a:rPr>
              <a:t>,</a:t>
            </a:r>
            <a:r>
              <a:rPr lang="en-US" b="0" i="0">
                <a:latin typeface="Times New Roman"/>
                <a:ea typeface="Segoe UI"/>
                <a:cs typeface="Times New Roman"/>
              </a:rPr>
              <a:t> where the </a:t>
            </a:r>
            <a:r>
              <a:rPr lang="en-US" b="0" i="0" err="1">
                <a:latin typeface="Times New Roman"/>
                <a:ea typeface="Segoe UI"/>
                <a:cs typeface="Times New Roman"/>
              </a:rPr>
              <a:t>api_urls.json</a:t>
            </a:r>
            <a:r>
              <a:rPr lang="en-US" b="0" i="0">
                <a:latin typeface="Times New Roman"/>
                <a:ea typeface="Segoe UI"/>
                <a:cs typeface="Times New Roman"/>
              </a:rPr>
              <a:t> file is stored and used as input for the ETL process.</a:t>
            </a:r>
          </a:p>
          <a:p>
            <a:endParaRPr lang="en-US">
              <a:latin typeface="Times New Roman"/>
              <a:ea typeface="Segoe UI"/>
              <a:cs typeface="Times New Roman"/>
            </a:endParaRPr>
          </a:p>
          <a:p>
            <a:endParaRPr lang="en-US">
              <a:latin typeface="Times New Roman"/>
              <a:ea typeface="Segoe UI"/>
              <a:cs typeface="Times New Roman"/>
            </a:endParaRPr>
          </a:p>
          <a:p>
            <a:endParaRPr lang="en-US">
              <a:latin typeface="Times New Roman"/>
              <a:ea typeface="Segoe UI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Lambda Function-1 to Extract API URLs from S3</a:t>
            </a:r>
            <a:endParaRPr lang="en-US" b="1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endParaRPr lang="en-US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endParaRPr lang="en-US">
              <a:latin typeface="Times New Roman"/>
              <a:ea typeface="Segoe UI"/>
              <a:cs typeface="Times New Roman"/>
            </a:endParaRPr>
          </a:p>
          <a:p>
            <a:r>
              <a:rPr lang="en-US" b="0" i="0">
                <a:latin typeface="Times New Roman"/>
                <a:ea typeface="Segoe UI"/>
                <a:cs typeface="Times New Roman"/>
              </a:rPr>
              <a:t>The second image shows the </a:t>
            </a:r>
            <a:r>
              <a:rPr lang="en-US" b="1" i="0">
                <a:latin typeface="Times New Roman"/>
                <a:ea typeface="Segoe UI"/>
                <a:cs typeface="Times New Roman"/>
              </a:rPr>
              <a:t>AWS Lambda function code</a:t>
            </a:r>
            <a:r>
              <a:rPr lang="en-US" b="0" i="0">
                <a:latin typeface="Times New Roman"/>
                <a:ea typeface="Segoe UI"/>
                <a:cs typeface="Times New Roman"/>
              </a:rPr>
              <a:t>, which reads the JSON file from S3 and processes the API URLs.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F871D8-8EAA-F077-6D77-87B3B74E7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671FC-AC4F-35DE-4F82-9C893B6C5593}"/>
              </a:ext>
            </a:extLst>
          </p:cNvPr>
          <p:cNvSpPr txBox="1"/>
          <p:nvPr/>
        </p:nvSpPr>
        <p:spPr>
          <a:xfrm>
            <a:off x="764509" y="237546"/>
            <a:ext cx="636001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API Configuration &amp; Data Ingestion using  Lambda</a:t>
            </a:r>
            <a:endParaRPr lang="en-US" sz="32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6884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0DA60-6BFB-4116-E800-37E7DD54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F8CF4-304B-4C19-9B71-DA04B9E47496}" type="datetime1">
              <a:rPr lang="en-US" smtClean="0"/>
              <a:t>6/1/2026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146C6E-9E4F-9D9D-8907-0678A514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0" t="36403" r="2680" b="6031"/>
          <a:stretch>
            <a:fillRect/>
          </a:stretch>
        </p:blipFill>
        <p:spPr>
          <a:xfrm>
            <a:off x="4866968" y="442452"/>
            <a:ext cx="7325031" cy="24775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F2BD0C-C4C1-F07C-EA4C-03BA7634CF39}"/>
              </a:ext>
            </a:extLst>
          </p:cNvPr>
          <p:cNvSpPr txBox="1"/>
          <p:nvPr/>
        </p:nvSpPr>
        <p:spPr>
          <a:xfrm>
            <a:off x="662786" y="757635"/>
            <a:ext cx="4074013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>
                <a:latin typeface="Times New Roman"/>
                <a:cs typeface="Times New Roman"/>
              </a:rPr>
              <a:t>The image shows the </a:t>
            </a:r>
            <a:r>
              <a:rPr lang="en-US" b="1">
                <a:latin typeface="Times New Roman"/>
                <a:cs typeface="Times New Roman"/>
              </a:rPr>
              <a:t>AWS Lambda function code</a:t>
            </a:r>
            <a:r>
              <a:rPr lang="en-US">
                <a:latin typeface="Times New Roman"/>
                <a:cs typeface="Times New Roman"/>
              </a:rPr>
              <a:t>, which checks whether the Glue Crawler is running or not, and starts it if needed.</a:t>
            </a:r>
          </a:p>
          <a:p>
            <a:pPr marL="285750" indent="-285750" algn="just">
              <a:buFont typeface="Arial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algn="just"/>
            <a:endParaRPr lang="en-US">
              <a:latin typeface="Times New Roman"/>
              <a:cs typeface="Times New Roman"/>
            </a:endParaRPr>
          </a:p>
          <a:p>
            <a:pPr algn="just"/>
            <a:endParaRPr lang="en-US" sz="2000" b="1">
              <a:latin typeface="Times New Roman"/>
              <a:cs typeface="Times New Roman"/>
            </a:endParaRPr>
          </a:p>
          <a:p>
            <a:pPr algn="just"/>
            <a:endParaRPr lang="en-US" b="1">
              <a:latin typeface="Times New Roman"/>
              <a:cs typeface="Times New Roman"/>
            </a:endParaRPr>
          </a:p>
          <a:p>
            <a:pPr algn="just"/>
            <a:r>
              <a:rPr lang="en-US">
                <a:latin typeface="Times New Roman"/>
                <a:cs typeface="Times New Roman"/>
              </a:rPr>
              <a:t>After the Lambda function runs, it processes API data and stores outputs such as </a:t>
            </a:r>
            <a:r>
              <a:rPr lang="en-US" b="1">
                <a:latin typeface="Times New Roman"/>
                <a:cs typeface="Times New Roman"/>
              </a:rPr>
              <a:t>categories, products, and users</a:t>
            </a:r>
            <a:r>
              <a:rPr lang="en-US">
                <a:latin typeface="Times New Roman"/>
                <a:cs typeface="Times New Roman"/>
              </a:rPr>
              <a:t> into S3 bucket .</a:t>
            </a:r>
          </a:p>
          <a:p>
            <a:pPr marL="285750" indent="-285750" algn="just">
              <a:buFont typeface="Arial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algn="just"/>
            <a:endParaRPr lang="en-US">
              <a:latin typeface="Neue Haas Grotesk Text Pro"/>
              <a:cs typeface="Times New Roman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2A7E83-AD5B-1FEB-8C47-F2F978F653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" t="22257" r="2077" b="10153"/>
          <a:stretch>
            <a:fillRect/>
          </a:stretch>
        </p:blipFill>
        <p:spPr>
          <a:xfrm>
            <a:off x="4866968" y="3332581"/>
            <a:ext cx="7188065" cy="300398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ADE767-B28D-080F-8552-68C1EB73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35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1C1C-7B49-EECD-727E-B212771E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548640"/>
            <a:ext cx="10653578" cy="1132258"/>
          </a:xfrm>
        </p:spPr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Parquet Format</a:t>
            </a:r>
          </a:p>
          <a:p>
            <a:endParaRPr lang="en-US" sz="4400" b="0">
              <a:solidFill>
                <a:srgbClr val="0146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23A7-8B46-CB48-56D3-630C88342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600" b="1"/>
          </a:p>
          <a:p>
            <a:pPr marL="0" indent="0">
              <a:buNone/>
            </a:pPr>
            <a:endParaRPr lang="en-US" sz="1600" b="1"/>
          </a:p>
          <a:p>
            <a:endParaRPr lang="en-US" sz="1400">
              <a:latin typeface="Segoe UI"/>
              <a:cs typeface="Segoe UI"/>
            </a:endParaRPr>
          </a:p>
          <a:p>
            <a:pPr marL="0" indent="0">
              <a:buNone/>
            </a:pPr>
            <a:endParaRPr lang="en-US" sz="1600" b="1"/>
          </a:p>
          <a:p>
            <a:endParaRPr lang="en-US" sz="1400">
              <a:latin typeface="Segoe UI"/>
              <a:cs typeface="Segoe UI"/>
            </a:endParaRPr>
          </a:p>
          <a:p>
            <a:pPr marL="0" indent="0">
              <a:buNone/>
            </a:pPr>
            <a:endParaRPr lang="en-US" sz="1400">
              <a:latin typeface="Segoe UI"/>
              <a:cs typeface="Segoe UI"/>
            </a:endParaRP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B058E-9442-8076-330B-241DCFDC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B758-5DF3-4545-A543-3E459C566EE6}" type="datetime1">
              <a:rPr lang="en-US" smtClean="0"/>
              <a:t>6/1/2026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1447CB-F5FE-E099-9D5A-663099FBF088}"/>
              </a:ext>
            </a:extLst>
          </p:cNvPr>
          <p:cNvSpPr txBox="1"/>
          <p:nvPr/>
        </p:nvSpPr>
        <p:spPr>
          <a:xfrm>
            <a:off x="546204" y="1905825"/>
            <a:ext cx="3841796" cy="1273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/>
              <a:t>Columnar Storage</a:t>
            </a:r>
            <a:r>
              <a:rPr lang="en-US" sz="2000" b="1"/>
              <a:t> </a:t>
            </a:r>
            <a:r>
              <a:rPr lang="en-US" sz="2800" b="1">
                <a:highlight>
                  <a:srgbClr val="FFFFFF"/>
                </a:highlight>
                <a:latin typeface="Roboto"/>
                <a:ea typeface="Roboto"/>
                <a:cs typeface="Roboto"/>
              </a:rPr>
              <a:t>📶</a:t>
            </a:r>
            <a:endParaRPr lang="en-US" sz="2800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endParaRPr lang="en-US" sz="1400">
              <a:latin typeface="Segoe UI"/>
              <a:cs typeface="Segoe UI"/>
            </a:endParaRPr>
          </a:p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107EF-0E75-117C-AC6D-1F83AE128C62}"/>
              </a:ext>
            </a:extLst>
          </p:cNvPr>
          <p:cNvSpPr txBox="1"/>
          <p:nvPr/>
        </p:nvSpPr>
        <p:spPr>
          <a:xfrm>
            <a:off x="8594234" y="4910955"/>
            <a:ext cx="3488937" cy="1273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/>
              <a:t>High Performance</a:t>
            </a:r>
            <a:r>
              <a:rPr lang="en-US" sz="2800" b="1"/>
              <a:t> </a:t>
            </a:r>
            <a:r>
              <a:rPr lang="en-US" sz="2800" b="1">
                <a:highlight>
                  <a:srgbClr val="F8F4F1"/>
                </a:highlight>
                <a:latin typeface="Roboto"/>
                <a:ea typeface="Roboto"/>
                <a:cs typeface="Roboto"/>
              </a:rPr>
              <a:t>⚡</a:t>
            </a:r>
            <a:endParaRPr lang="en-US" sz="2800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endParaRPr lang="en-US" sz="1400">
              <a:latin typeface="Segoe UI"/>
              <a:cs typeface="Segoe UI"/>
            </a:endParaRPr>
          </a:p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9DFEE-8F90-92AD-B9FE-4C0677AD9BC1}"/>
              </a:ext>
            </a:extLst>
          </p:cNvPr>
          <p:cNvSpPr txBox="1"/>
          <p:nvPr/>
        </p:nvSpPr>
        <p:spPr>
          <a:xfrm>
            <a:off x="408890" y="4910955"/>
            <a:ext cx="3693411" cy="1273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/>
              <a:t>Storage Optimization </a:t>
            </a:r>
            <a:r>
              <a:rPr lang="en-US" sz="2800" b="1">
                <a:highlight>
                  <a:srgbClr val="FFFFFF"/>
                </a:highlight>
                <a:latin typeface="Roboto"/>
                <a:ea typeface="Roboto"/>
                <a:cs typeface="Roboto"/>
              </a:rPr>
              <a:t>💾</a:t>
            </a:r>
            <a:endParaRPr lang="en-US" sz="2800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endParaRPr lang="en-US" sz="1400">
              <a:latin typeface="Segoe UI"/>
              <a:cs typeface="Segoe UI"/>
            </a:endParaRPr>
          </a:p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688C54-779E-0EBC-4C57-AE24630D8DA3}"/>
              </a:ext>
            </a:extLst>
          </p:cNvPr>
          <p:cNvSpPr txBox="1"/>
          <p:nvPr/>
        </p:nvSpPr>
        <p:spPr>
          <a:xfrm>
            <a:off x="8485407" y="1949776"/>
            <a:ext cx="3706593" cy="1273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/>
              <a:t>Analytics Optimized</a:t>
            </a:r>
            <a:r>
              <a:rPr lang="en-US" sz="1600" b="1"/>
              <a:t> </a:t>
            </a:r>
            <a:r>
              <a:rPr lang="en-US" sz="2800" b="1">
                <a:highlight>
                  <a:srgbClr val="FFFFFF"/>
                </a:highlight>
                <a:latin typeface="Roboto"/>
                <a:ea typeface="Roboto"/>
                <a:cs typeface="Roboto"/>
              </a:rPr>
              <a:t>🚀</a:t>
            </a:r>
            <a:endParaRPr lang="en-US" sz="2800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endParaRPr lang="en-US" sz="1400">
              <a:latin typeface="Segoe UI"/>
              <a:cs typeface="Segoe UI"/>
            </a:endParaRPr>
          </a:p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512CFA-4EC8-F30C-12F7-C9D068B0E184}"/>
              </a:ext>
            </a:extLst>
          </p:cNvPr>
          <p:cNvSpPr/>
          <p:nvPr/>
        </p:nvSpPr>
        <p:spPr>
          <a:xfrm>
            <a:off x="4293877" y="2787952"/>
            <a:ext cx="3340174" cy="19453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913B297-54D6-B671-19F4-894D23A25553}"/>
              </a:ext>
            </a:extLst>
          </p:cNvPr>
          <p:cNvSpPr txBox="1"/>
          <p:nvPr/>
        </p:nvSpPr>
        <p:spPr>
          <a:xfrm>
            <a:off x="4017624" y="3212213"/>
            <a:ext cx="3892681" cy="10772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Bookman Old Style"/>
              </a:rPr>
              <a:t>PARQUET</a:t>
            </a:r>
          </a:p>
          <a:p>
            <a:pPr algn="ctr"/>
            <a:r>
              <a:rPr 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Bookman Old Style"/>
              </a:rPr>
              <a:t> FORMAT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349FD5-0CEA-1239-F103-D7F9933CEC89}"/>
              </a:ext>
            </a:extLst>
          </p:cNvPr>
          <p:cNvCxnSpPr>
            <a:cxnSpLocks/>
          </p:cNvCxnSpPr>
          <p:nvPr/>
        </p:nvCxnSpPr>
        <p:spPr>
          <a:xfrm>
            <a:off x="4450286" y="4132570"/>
            <a:ext cx="833728" cy="663895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Up 24">
            <a:extLst>
              <a:ext uri="{FF2B5EF4-FFF2-40B4-BE49-F238E27FC236}">
                <a16:creationId xmlns:a16="http://schemas.microsoft.com/office/drawing/2014/main" id="{65FD3B27-5513-E8FB-A5CF-ABFBAFFCA900}"/>
              </a:ext>
            </a:extLst>
          </p:cNvPr>
          <p:cNvSpPr/>
          <p:nvPr/>
        </p:nvSpPr>
        <p:spPr>
          <a:xfrm rot="3120000">
            <a:off x="7819250" y="2359562"/>
            <a:ext cx="236745" cy="797838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CDEF6BD5-EAD8-B8E8-04B0-B60CA1A27C7F}"/>
              </a:ext>
            </a:extLst>
          </p:cNvPr>
          <p:cNvSpPr/>
          <p:nvPr/>
        </p:nvSpPr>
        <p:spPr>
          <a:xfrm rot="7860000">
            <a:off x="7999880" y="4281287"/>
            <a:ext cx="257041" cy="844144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A736F378-2F69-0425-D6D0-0B87C2755CA6}"/>
              </a:ext>
            </a:extLst>
          </p:cNvPr>
          <p:cNvSpPr/>
          <p:nvPr/>
        </p:nvSpPr>
        <p:spPr>
          <a:xfrm rot="-2880000">
            <a:off x="3725119" y="2341510"/>
            <a:ext cx="236745" cy="797838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7314C52B-433A-32D1-583A-A9236125769C}"/>
              </a:ext>
            </a:extLst>
          </p:cNvPr>
          <p:cNvSpPr/>
          <p:nvPr/>
        </p:nvSpPr>
        <p:spPr>
          <a:xfrm rot="13860000">
            <a:off x="3855911" y="4415632"/>
            <a:ext cx="236745" cy="797838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ED60A-34B4-6D8D-A91A-B6854187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67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DC94C-B936-E59A-416E-FC615600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9CA8-49D2-6860-F62E-C9ADB5B5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A04C8-BD0F-0B4C-0279-6B0C3932E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05739"/>
            <a:ext cx="8595360" cy="41743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chemeClr val="bg1"/>
              </a:solidFill>
              <a:latin typeface="Century Schoolbook" panose="02040604050505020304"/>
              <a:cs typeface="Times New Roman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09A97D-A6A5-7B52-BE28-10A802C529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25" b="317"/>
          <a:stretch>
            <a:fillRect/>
          </a:stretch>
        </p:blipFill>
        <p:spPr>
          <a:xfrm>
            <a:off x="1061885" y="1114769"/>
            <a:ext cx="10099020" cy="276223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81F3F61-311C-6DDC-54FF-57E2A5E8B84E}"/>
              </a:ext>
            </a:extLst>
          </p:cNvPr>
          <p:cNvSpPr>
            <a:spLocks noGrp="1"/>
          </p:cNvSpPr>
          <p:nvPr/>
        </p:nvSpPr>
        <p:spPr>
          <a:xfrm>
            <a:off x="731171" y="223799"/>
            <a:ext cx="10900991" cy="1029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Crawler</a:t>
            </a:r>
            <a:r>
              <a:rPr lang="en-US" sz="4400" b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Overview &amp; Usage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7B8F8-D3DD-E571-F10A-32F5E5648010}"/>
              </a:ext>
            </a:extLst>
          </p:cNvPr>
          <p:cNvSpPr txBox="1"/>
          <p:nvPr/>
        </p:nvSpPr>
        <p:spPr>
          <a:xfrm>
            <a:off x="1236193" y="3894213"/>
            <a:ext cx="72537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/>
              <a:t>Before running crawler there are no tables in the database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8263C95-9114-4FB4-B21E-5CBFE1D1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D8E2-2156-4C63-B122-0764BFCD66AE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B3C87-D56E-3DA6-E886-FAFE5FDBC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16</a:t>
            </a:fld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40AD8A-39AC-0D8E-12A5-77392DFEE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193" y="4303847"/>
            <a:ext cx="9798097" cy="199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25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68A7-D4DF-9248-F81B-2DEC238F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B3A3-89DB-FA6D-492F-A046E36A3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566" y="253683"/>
            <a:ext cx="6930247" cy="533520"/>
          </a:xfrm>
        </p:spPr>
        <p:txBody>
          <a:bodyPr>
            <a:normAutofit fontScale="90000"/>
          </a:bodyPr>
          <a:lstStyle/>
          <a:p>
            <a:r>
              <a:rPr lang="en-US" sz="440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After Running The Crawler </a:t>
            </a:r>
            <a:endParaRPr lang="en-US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AB69CE-533F-167C-A40E-6374C6F9D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40" y="969448"/>
            <a:ext cx="9331168" cy="226020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4111F6-5702-88F0-3B35-55576464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8A03-9D28-4603-AA12-5AE8C08EA1EB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C0A90-122F-09E1-7E2C-1D2275A6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A380A2-735D-2934-3394-CD8CD5AB5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66" y="3555946"/>
            <a:ext cx="3155074" cy="257076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50B6B7-92BF-A0EF-0A53-95FD539D8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43" y="3309084"/>
            <a:ext cx="2638755" cy="295771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C59771-2ABE-CC99-82DB-16D48E0F9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570" y="3434748"/>
            <a:ext cx="3033549" cy="28000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F69539-DA99-B666-FD7A-1A1B546204EA}"/>
              </a:ext>
            </a:extLst>
          </p:cNvPr>
          <p:cNvSpPr txBox="1"/>
          <p:nvPr/>
        </p:nvSpPr>
        <p:spPr>
          <a:xfrm>
            <a:off x="1225440" y="627012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Categories Schema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6A7F7C-BEBC-8494-9FB5-12F9E1B0CD86}"/>
              </a:ext>
            </a:extLst>
          </p:cNvPr>
          <p:cNvSpPr txBox="1"/>
          <p:nvPr/>
        </p:nvSpPr>
        <p:spPr>
          <a:xfrm>
            <a:off x="4888618" y="627012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Products Schema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7A231-C365-4F33-78BE-490656CD03A8}"/>
              </a:ext>
            </a:extLst>
          </p:cNvPr>
          <p:cNvSpPr txBox="1"/>
          <p:nvPr/>
        </p:nvSpPr>
        <p:spPr>
          <a:xfrm>
            <a:off x="8888962" y="627012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Users Schema</a:t>
            </a:r>
          </a:p>
        </p:txBody>
      </p:sp>
    </p:spTree>
    <p:extLst>
      <p:ext uri="{BB962C8B-B14F-4D97-AF65-F5344CB8AC3E}">
        <p14:creationId xmlns:p14="http://schemas.microsoft.com/office/powerpoint/2010/main" val="919150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F9F4A-C7AA-3BB4-7B9B-1A8AE627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312B82D-E903-3717-7C05-55468DB5E3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14263" b="1"/>
          <a:stretch>
            <a:fillRect/>
          </a:stretch>
        </p:blipFill>
        <p:spPr>
          <a:xfrm>
            <a:off x="5680249" y="431199"/>
            <a:ext cx="6158513" cy="5649397"/>
          </a:xfrm>
          <a:prstGeom prst="rect">
            <a:avLst/>
          </a:prstGeom>
          <a:noFill/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354D4C4-16F4-1E27-4E89-72E894946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784" y="2370981"/>
            <a:ext cx="4934465" cy="39600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Serverless ETL service by Amazon web Services.</a:t>
            </a:r>
          </a:p>
          <a:p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Extracts, transforms, and loads data automatically.</a:t>
            </a:r>
          </a:p>
          <a:p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Cleans and prepares raw data for analytics.</a:t>
            </a:r>
          </a:p>
          <a:p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Integrates with S3, Crawlers, Athena, and Lambda.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4B384-D9CD-D7AC-CCC3-88EF1CCF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46ED631-C3B1-47CA-98A3-2BDFBBBB6437}" type="datetime1">
              <a:rPr lang="en-US" smtClean="0"/>
              <a:t>6/1/2026</a:t>
            </a:fld>
            <a:endParaRPr lang="en-US"/>
          </a:p>
        </p:txBody>
      </p:sp>
      <p:pic>
        <p:nvPicPr>
          <p:cNvPr id="3" name="Picture 2" descr="A logo with white text&#10;&#10;AI-generated content may be incorrect.">
            <a:extLst>
              <a:ext uri="{FF2B5EF4-FFF2-40B4-BE49-F238E27FC236}">
                <a16:creationId xmlns:a16="http://schemas.microsoft.com/office/drawing/2014/main" id="{D6F7E1BB-47F8-4E4C-5685-8A73C62AE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4" y="431199"/>
            <a:ext cx="4697113" cy="155746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09A8D3-4E69-9792-D73D-09367C91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94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AA7494-D7A8-0E07-2C14-0146EC983352}"/>
              </a:ext>
            </a:extLst>
          </p:cNvPr>
          <p:cNvSpPr txBox="1"/>
          <p:nvPr/>
        </p:nvSpPr>
        <p:spPr>
          <a:xfrm>
            <a:off x="612648" y="548640"/>
            <a:ext cx="10741152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After transformation, cleaned data is stored into revised DB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B9CC36B-588E-584C-4F96-8DCC1B06D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9772" y="1410228"/>
            <a:ext cx="7282248" cy="541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Athena Query 1: SELECT * FROM </a:t>
            </a:r>
            <a:r>
              <a:rPr lang="en-US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updated_categories</a:t>
            </a:r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limit 10;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776242-D71E-3C41-8ADC-85642987D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741" y="2404441"/>
            <a:ext cx="7642654" cy="333786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3075-C6DD-0C97-02C7-5CD6A671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B5826EF-9217-4F35-8770-A8025D3F6326}" type="datetime1">
              <a:rPr lang="en-US" smtClean="0"/>
              <a:pPr>
                <a:spcAft>
                  <a:spcPts val="600"/>
                </a:spcAft>
              </a:pPr>
              <a:t>6/1/2026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1421B9-CD05-FF68-5973-ACD33312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97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4719-ACD1-5800-8921-33DFF34B4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43" y="3911139"/>
            <a:ext cx="3224125" cy="1472070"/>
          </a:xfrm>
        </p:spPr>
        <p:txBody>
          <a:bodyPr/>
          <a:lstStyle/>
          <a:p>
            <a:r>
              <a:rPr lang="en-US" sz="2000" b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Athena Query 3:</a:t>
            </a:r>
            <a:br>
              <a:rPr lang="en-US" sz="2000" b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</a:br>
            <a:br>
              <a:rPr lang="en-US" sz="2000" b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</a:br>
            <a:r>
              <a:rPr lang="en-US" sz="2000" b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SELECT * FROM  </a:t>
            </a:r>
            <a:r>
              <a:rPr lang="en-US" sz="2000" b="0" err="1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updated_users</a:t>
            </a:r>
            <a:r>
              <a:rPr lang="en-US" sz="2000" b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 limit 10;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FCDEC9-4E51-8DC5-A64C-BE1A8BB39D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90378" y="504884"/>
            <a:ext cx="6664411" cy="2915089"/>
          </a:xfrm>
          <a:prstGeom prst="rect">
            <a:avLst/>
          </a:prstGeom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6ED42E-9DD7-EF4B-6B21-9A3E5C7DF8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89389" y="3414274"/>
            <a:ext cx="6674706" cy="292458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E2CA6-335E-5EEB-695F-DE375B81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B4CF-91D8-4EBC-9C85-B8D17032D0C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32C6C-077C-84AF-2902-3E36F8B9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C017C-88CB-B180-A646-0ED08EF64A8F}"/>
              </a:ext>
            </a:extLst>
          </p:cNvPr>
          <p:cNvSpPr txBox="1"/>
          <p:nvPr/>
        </p:nvSpPr>
        <p:spPr>
          <a:xfrm>
            <a:off x="940443" y="1356804"/>
            <a:ext cx="3017110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Athena Query 2: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 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updated_products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limit 10;</a:t>
            </a:r>
          </a:p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548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4ADB-1047-AE67-2396-69F9979F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277218"/>
            <a:ext cx="12325858" cy="1325562"/>
          </a:xfrm>
        </p:spPr>
        <p:txBody>
          <a:bodyPr>
            <a:normAutofit/>
          </a:bodyPr>
          <a:lstStyle/>
          <a:p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CloudWatch Logs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3BB91B-9CEE-5399-B120-B3FAB60AC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60" y="1316830"/>
            <a:ext cx="6096002" cy="4629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3B7678-A43B-54E7-2F74-5FB354A23EF9}"/>
              </a:ext>
            </a:extLst>
          </p:cNvPr>
          <p:cNvSpPr txBox="1"/>
          <p:nvPr/>
        </p:nvSpPr>
        <p:spPr>
          <a:xfrm>
            <a:off x="6887735" y="1421665"/>
            <a:ext cx="474442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Amazon CloudWatch is a monitoring service that collects and stores logs from AWS resources like Lambda, Glue.</a:t>
            </a:r>
          </a:p>
          <a:p>
            <a:pPr algn="just"/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It organizes logs into </a:t>
            </a:r>
            <a:r>
              <a:rPr lang="en-US" b="1">
                <a:ea typeface="+mn-lt"/>
                <a:cs typeface="+mn-lt"/>
              </a:rPr>
              <a:t>log groups and log streams</a:t>
            </a:r>
            <a:r>
              <a:rPr lang="en-US">
                <a:ea typeface="+mn-lt"/>
                <a:cs typeface="+mn-lt"/>
              </a:rPr>
              <a:t> for easy tracking and analysis.</a:t>
            </a:r>
          </a:p>
          <a:p>
            <a:pPr algn="just"/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CloudWatch helps identify issues by capturing </a:t>
            </a:r>
            <a:r>
              <a:rPr lang="en-US" b="1">
                <a:ea typeface="+mn-lt"/>
                <a:cs typeface="+mn-lt"/>
              </a:rPr>
              <a:t>ERROR logs, timestamps, and execution details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algn="just"/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These logs can be used by Lambda to process errors and trigger alerts using services like SNS.</a:t>
            </a:r>
            <a:endParaRPr lang="en-US"/>
          </a:p>
          <a:p>
            <a:pPr algn="just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C0D91-FC91-524C-7AF8-5846EF7F2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D1E5E-453D-4723-BB90-E8CD36FC17B2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0FE36B-3EAE-70E1-0799-F3589276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20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E01AE5-9E15-43E2-B49C-5C043C1B225A}"/>
              </a:ext>
            </a:extLst>
          </p:cNvPr>
          <p:cNvSpPr txBox="1"/>
          <p:nvPr/>
        </p:nvSpPr>
        <p:spPr>
          <a:xfrm>
            <a:off x="894735" y="1677465"/>
            <a:ext cx="6194203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This Lambda function collects logs from AWS CloudWatch.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It retrieves logs from two sources: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Glue Crawler logs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 logs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</a:t>
            </a: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most recent log stream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from each log group.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It reads all log events from that latest stream.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Each log is formatted into a structured JSON format.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Logs are classified based on message content (INFO or ERROR).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Logs from both sources are combined into a single dataset.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The merged logs are then uploaded to an S3 bucket.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</a:t>
            </a: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logging, easy access, and monitoring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C0BB4-7904-8675-182F-43D74DF59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540" y="145371"/>
            <a:ext cx="4382692" cy="38603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BA6A70-4471-8ADF-9964-533F4A5EB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40" y="4018307"/>
            <a:ext cx="4382692" cy="26943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08E7DE-CE31-004B-B998-DB04803421A3}"/>
              </a:ext>
            </a:extLst>
          </p:cNvPr>
          <p:cNvSpPr txBox="1"/>
          <p:nvPr/>
        </p:nvSpPr>
        <p:spPr>
          <a:xfrm>
            <a:off x="683834" y="302859"/>
            <a:ext cx="57028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Lambda 2: Saving Logs from Crawler and Lambda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68C2E-A9A2-FF3C-7957-0F4F2AC60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A0F0-33A3-4560-998B-5CD32ACBAB32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60066-89ED-CD1D-F542-0B7B24E7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27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B0B91A-6FC6-28DB-35A0-CCD336A19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869" y="137651"/>
            <a:ext cx="5366861" cy="1881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767726-2072-9CD9-0001-F3AB5DF70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868" y="3558877"/>
            <a:ext cx="5366862" cy="3082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34AA41-441B-2C46-5451-37C6DAAB325C}"/>
              </a:ext>
            </a:extLst>
          </p:cNvPr>
          <p:cNvSpPr txBox="1"/>
          <p:nvPr/>
        </p:nvSpPr>
        <p:spPr>
          <a:xfrm>
            <a:off x="1080401" y="936574"/>
            <a:ext cx="458375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As shown in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Image 1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the Lambda function executed successfully and generated the merged logs. </a:t>
            </a:r>
          </a:p>
          <a:p>
            <a:pPr lvl="0" algn="just"/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Image 2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the S3 bucket displays the folder where the output file </a:t>
            </a:r>
            <a:r>
              <a:rPr lang="en-US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merged_logs.json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is stored along with other datasets. </a:t>
            </a:r>
          </a:p>
          <a:p>
            <a:pPr lvl="0" algn="just"/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Image 3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the merged log file contains structured details such as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timestamp, log level, message, logger, and log group name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This file is further used to send notifications via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Amazon SNS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helping track the status of the Glue Crawler and Lambda execution.</a:t>
            </a:r>
          </a:p>
          <a:p>
            <a:pPr algn="just"/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7FBECF-3253-2F67-C221-B055F1D32A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8867"/>
          <a:stretch>
            <a:fillRect/>
          </a:stretch>
        </p:blipFill>
        <p:spPr bwMode="auto">
          <a:xfrm>
            <a:off x="6254868" y="2016414"/>
            <a:ext cx="2279532" cy="13683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B9DF69-AD76-9D11-0886-D5D2527928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7143"/>
          <a:stretch>
            <a:fillRect/>
          </a:stretch>
        </p:blipFill>
        <p:spPr bwMode="auto">
          <a:xfrm>
            <a:off x="9125111" y="2047810"/>
            <a:ext cx="2496619" cy="13811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71781B-1E5D-C05F-CE67-3F284746E0E0}"/>
              </a:ext>
            </a:extLst>
          </p:cNvPr>
          <p:cNvCxnSpPr>
            <a:cxnSpLocks/>
          </p:cNvCxnSpPr>
          <p:nvPr/>
        </p:nvCxnSpPr>
        <p:spPr>
          <a:xfrm>
            <a:off x="8718711" y="2700564"/>
            <a:ext cx="406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CB1796-4605-AB6E-C640-81013B63B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88C4F-7231-4AF1-A58D-FE785322FF38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D9D0C-15D7-79D8-6D6C-1A22568A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60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4524-03C0-E3EC-F665-F60A2B5DA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548640"/>
            <a:ext cx="10653578" cy="1132258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Amazon SNS </a:t>
            </a:r>
          </a:p>
        </p:txBody>
      </p:sp>
      <p:pic>
        <p:nvPicPr>
          <p:cNvPr id="10" name="Content Placeholder 9" descr="A diagram of a network&#10;&#10;AI-generated content may be incorrect.">
            <a:extLst>
              <a:ext uri="{FF2B5EF4-FFF2-40B4-BE49-F238E27FC236}">
                <a16:creationId xmlns:a16="http://schemas.microsoft.com/office/drawing/2014/main" id="{03FE02BF-42B0-C8A7-DC9E-E9A42BCBF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2192" y="1370197"/>
            <a:ext cx="5420984" cy="43521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5D78DD-C74B-B735-6FEC-91A7AE10049A}"/>
              </a:ext>
            </a:extLst>
          </p:cNvPr>
          <p:cNvSpPr txBox="1"/>
          <p:nvPr/>
        </p:nvSpPr>
        <p:spPr>
          <a:xfrm>
            <a:off x="1114093" y="1508046"/>
            <a:ext cx="5482477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b="1">
                <a:latin typeface="Segoe UI"/>
                <a:cs typeface="Segoe UI"/>
              </a:rPr>
              <a:t>What is SNS ?</a:t>
            </a:r>
            <a:endParaRPr lang="en-US" sz="1700"/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Amazon SNS is a </a:t>
            </a:r>
            <a:r>
              <a:rPr lang="en-US" sz="1700" b="1">
                <a:latin typeface="Segoe UI"/>
                <a:cs typeface="Segoe UI"/>
              </a:rPr>
              <a:t>notification service</a:t>
            </a:r>
            <a:endParaRPr lang="en-US" sz="1700"/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Uses Publish → Subscribe model</a:t>
            </a:r>
            <a:endParaRPr lang="en-US" sz="1700"/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Sends messages to multiple systems at once</a:t>
            </a:r>
            <a:endParaRPr lang="en-US" sz="1700"/>
          </a:p>
          <a:p>
            <a:pPr marL="285750" indent="-285750" algn="l">
              <a:buFont typeface="Arial"/>
              <a:buChar char="•"/>
            </a:pPr>
            <a:endParaRPr lang="en-US" sz="1700">
              <a:latin typeface="Segoe UI"/>
              <a:cs typeface="Segoe UI"/>
            </a:endParaRPr>
          </a:p>
          <a:p>
            <a:r>
              <a:rPr lang="en-US" sz="1700" b="1">
                <a:latin typeface="Segoe UI"/>
                <a:cs typeface="Segoe UI"/>
              </a:rPr>
              <a:t>Pipeline Flow:</a:t>
            </a:r>
            <a:endParaRPr lang="en-US" sz="1700">
              <a:latin typeface="Segoe UI"/>
              <a:cs typeface="Segoe UI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  Error occurs in system</a:t>
            </a:r>
            <a:endParaRPr lang="en-US" sz="1700">
              <a:latin typeface="Neue Haas Grotesk Text Pro"/>
              <a:cs typeface="Segoe UI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  Message sent to </a:t>
            </a:r>
            <a:r>
              <a:rPr lang="en-US" sz="1700" b="1">
                <a:latin typeface="Segoe UI"/>
                <a:cs typeface="Segoe UI"/>
              </a:rPr>
              <a:t>SNS Topic</a:t>
            </a:r>
            <a:endParaRPr lang="en-US" sz="1700">
              <a:latin typeface="Neue Haas Grotesk Text Pro"/>
              <a:cs typeface="Segoe UI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  SNS triggers: </a:t>
            </a:r>
            <a:endParaRPr lang="en-US" sz="1700">
              <a:latin typeface="Neue Haas Grotesk Text Pro"/>
              <a:cs typeface="Segoe UI"/>
            </a:endParaRPr>
          </a:p>
          <a:p>
            <a:pPr lvl="1"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  Email → User receives error message</a:t>
            </a:r>
            <a:endParaRPr lang="en-US" sz="1700">
              <a:latin typeface="Neue Haas Grotesk Text Pro"/>
              <a:cs typeface="Segoe UI"/>
            </a:endParaRPr>
          </a:p>
          <a:p>
            <a:pPr lvl="1"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  Lambda 3 → Handles error processing</a:t>
            </a:r>
            <a:endParaRPr lang="en-US" sz="1700">
              <a:latin typeface="Neue Haas Grotesk Text Pro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sz="1700">
              <a:latin typeface="Segoe UI"/>
              <a:cs typeface="Segoe UI"/>
            </a:endParaRPr>
          </a:p>
          <a:p>
            <a:r>
              <a:rPr lang="en-US" sz="1700" b="1">
                <a:latin typeface="Segoe UI"/>
                <a:cs typeface="Segoe UI"/>
              </a:rPr>
              <a:t>Why SNS ?</a:t>
            </a:r>
            <a:endParaRPr lang="en-US" sz="1700">
              <a:latin typeface="Segoe UI"/>
              <a:cs typeface="Segoe UI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  Instant notifications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  Parallel processing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latin typeface="Segoe UI"/>
                <a:cs typeface="Segoe UI"/>
              </a:rPr>
              <a:t>  Decouples services</a:t>
            </a:r>
            <a:endParaRPr lang="en-US" sz="1700"/>
          </a:p>
          <a:p>
            <a:pPr marL="285750" indent="-285750">
              <a:buFont typeface="Arial"/>
              <a:buChar char="•"/>
            </a:pPr>
            <a:endParaRPr lang="en-US" sz="1700">
              <a:latin typeface="Segoe UI"/>
              <a:cs typeface="Segoe UI"/>
            </a:endParaRPr>
          </a:p>
          <a:p>
            <a:endParaRPr lang="en-US" sz="17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F63EDE-5C3F-0280-992D-7DD0F171B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67CA-7AB1-4100-A502-FFF9B4B3678B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90377-F26A-9F6A-67CC-2B9DE852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72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56E25-77A3-884A-5C1D-68B769A3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0AB5-A656-D279-A007-6415ADD38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440" y="351009"/>
            <a:ext cx="10576118" cy="1325562"/>
          </a:xfrm>
        </p:spPr>
        <p:txBody>
          <a:bodyPr>
            <a:normAutofit/>
          </a:bodyPr>
          <a:lstStyle/>
          <a:p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Lambda3                       Error Report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6BF5137-BF54-3E3D-4D8F-1F817621F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110559"/>
            <a:ext cx="5440742" cy="4639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14F494-FFFE-5D7B-0E32-EFBB1F41D4F6}"/>
              </a:ext>
            </a:extLst>
          </p:cNvPr>
          <p:cNvSpPr txBox="1"/>
          <p:nvPr/>
        </p:nvSpPr>
        <p:spPr>
          <a:xfrm>
            <a:off x="486474" y="5972561"/>
            <a:ext cx="54411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Code for lambda3 where we have to provide topic ARN of our subscription and bucket name</a:t>
            </a:r>
          </a:p>
        </p:txBody>
      </p:sp>
      <p:pic>
        <p:nvPicPr>
          <p:cNvPr id="7" name="Picture 6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3BB2BC3F-EEF9-8581-40CE-AA816047E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182" y="1107660"/>
            <a:ext cx="5551419" cy="46426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ABF353-5B91-44DB-104F-F40E219BAFA1}"/>
              </a:ext>
            </a:extLst>
          </p:cNvPr>
          <p:cNvSpPr txBox="1"/>
          <p:nvPr/>
        </p:nvSpPr>
        <p:spPr>
          <a:xfrm>
            <a:off x="6264371" y="5972561"/>
            <a:ext cx="492918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Error Report received through email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109F5-E916-D3D1-E1F3-8FB837D05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05B7D-D99B-4295-A969-44FC1D05E48A}" type="datetime1">
              <a:rPr lang="en-US" smtClean="0"/>
              <a:t>6/1/2026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A7A3DD-7125-3A85-CAE5-361AC8B5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44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CF36F6C-DEA3-8A32-DBFE-116DBB224424}"/>
              </a:ext>
            </a:extLst>
          </p:cNvPr>
          <p:cNvSpPr txBox="1"/>
          <p:nvPr/>
        </p:nvSpPr>
        <p:spPr>
          <a:xfrm>
            <a:off x="429308" y="443567"/>
            <a:ext cx="6464808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Server Creation &amp; Airflow Setup </a:t>
            </a:r>
          </a:p>
          <a:p>
            <a:endParaRPr lang="en-US" sz="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Activated Python virtual environment (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myvenv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Started Airflow webserver (port 8080) and scheduler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Initialized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Gunicorn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server with multiple workers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Verified Airflow is running and accessible via browser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Scheduler started processing workflows (DAGs) 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AWS Configuration (CLI Setup) </a:t>
            </a:r>
          </a:p>
          <a:p>
            <a:endParaRPr lang="en-US" sz="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Exported AWS_ACCESS_KEY_ID and AWS_SECRET_ACCESS_KEY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Configured AWS using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configure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Set default region to us-east-1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Verified credentials from terminal 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Airflow AWS Integration </a:t>
            </a:r>
          </a:p>
          <a:p>
            <a:endParaRPr lang="en-US" sz="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Airflow connection: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aws_default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Added AWS Access Key and Secret Key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Configured session token and region </a:t>
            </a:r>
          </a:p>
          <a:p>
            <a:pPr lvl="1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Enabled Airflow to interact with AWS services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713C1F-3042-ABF5-CD6B-310767C2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681" y="356733"/>
            <a:ext cx="5180235" cy="2440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7E283B-C835-B79B-C6E0-21661007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681" y="2932901"/>
            <a:ext cx="5180234" cy="1582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861DAC-D7F1-CFEF-B6CC-093251EFA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680" y="4715641"/>
            <a:ext cx="5180235" cy="198795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94F862-9139-4D6B-4C1D-721F78C3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79C-291E-46CD-8E73-16BFFF620347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FBE98-DE70-2443-E963-65116927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20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AF4582-88DF-EA4F-88FD-594347FAF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2160" y="681037"/>
            <a:ext cx="5181600" cy="561760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,Sans-Serif"/>
              <a:buChar char="v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DAG?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 DAG (Directed Acyclic Graph) defines workflow structure in Airflow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Represents tasks and their dependencies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Ensures controlled and sequential execution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,Sans-Serif"/>
              <a:buChar char="v"/>
            </a:pPr>
            <a:r>
              <a:rPr lang="en-US" sz="1800" b="1">
                <a:latin typeface="Times New Roman"/>
                <a:cs typeface="Times New Roman"/>
              </a:rPr>
              <a:t>DAG Folder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285750">
              <a:spcBef>
                <a:spcPts val="500"/>
              </a:spcBef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DAG files are stored inside the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Airflow DAGs directory</a:t>
            </a:r>
          </a:p>
          <a:p>
            <a:pPr marL="742950" lvl="1" indent="-285750"/>
            <a:r>
              <a:rPr lang="en-US">
                <a:latin typeface="Times New Roman"/>
                <a:cs typeface="Times New Roman"/>
              </a:rPr>
              <a:t>Airflow automatically detects .</a:t>
            </a:r>
            <a:r>
              <a:rPr lang="en-US" err="1">
                <a:latin typeface="Times New Roman"/>
                <a:cs typeface="Times New Roman"/>
              </a:rPr>
              <a:t>py</a:t>
            </a:r>
            <a:r>
              <a:rPr lang="en-US">
                <a:latin typeface="Times New Roman"/>
                <a:cs typeface="Times New Roman"/>
              </a:rPr>
              <a:t> files placed in this folder</a:t>
            </a:r>
          </a:p>
          <a:p>
            <a:pPr lvl="1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  </a:t>
            </a:r>
          </a:p>
          <a:p>
            <a:pPr marL="228600" lvl="1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BD077F-030C-0A77-D3F1-204484418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3760" y="559360"/>
            <a:ext cx="5260040" cy="56176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                              </a:t>
            </a:r>
            <a:r>
              <a:rPr lang="en-US" b="1"/>
              <a:t>DAG Code</a:t>
            </a:r>
          </a:p>
          <a:p>
            <a:pPr marL="0" indent="0">
              <a:buNone/>
            </a:pPr>
            <a:endParaRPr lang="en-US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5B630-B552-71A0-F44D-7399ED4A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39D109-11CA-49D2-BB3D-509090F5A4F2}" type="datetime1">
              <a:rPr lang="en-US" smtClean="0"/>
              <a:t>6/1/2026</a:t>
            </a:fld>
            <a:endParaRPr lang="en-US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5C7DC83-CF52-ECF5-1A58-4ADBCA328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417" y="941294"/>
            <a:ext cx="4613696" cy="3384177"/>
          </a:xfrm>
          <a:prstGeom prst="rect">
            <a:avLst/>
          </a:prstGeom>
        </p:spPr>
      </p:pic>
      <p:pic>
        <p:nvPicPr>
          <p:cNvPr id="10" name="Picture 9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177C2494-F4E7-EBD4-766E-4A49FB157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08" y="4603656"/>
            <a:ext cx="4615700" cy="1225365"/>
          </a:xfrm>
          <a:prstGeom prst="rect">
            <a:avLst/>
          </a:prstGeom>
        </p:spPr>
      </p:pic>
      <p:pic>
        <p:nvPicPr>
          <p:cNvPr id="11" name="Picture 10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527DB37-B44D-B532-1D29-115B27439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476" y="2806746"/>
            <a:ext cx="4091996" cy="56141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E0AF1-E9C5-13C7-9F6A-87F407DF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85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62A80-5E2E-ECC2-3D40-013CA46E5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357655"/>
            <a:ext cx="11019864" cy="58193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>
                <a:latin typeface="Times New Roman"/>
                <a:cs typeface="Times New Roman"/>
              </a:rPr>
              <a:t>                   DAG Graph for success and failure</a:t>
            </a:r>
          </a:p>
          <a:p>
            <a:pPr marL="0" indent="0">
              <a:buNone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4B004-42FD-3E13-B320-0D51EC80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3D4E-A971-492F-8982-BE6A93199553}" type="datetime1">
              <a:rPr lang="en-US" smtClean="0"/>
              <a:t>6/1/2026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ED644A-3512-284B-CA3D-C868D79E2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3" b="16548"/>
          <a:stretch>
            <a:fillRect/>
          </a:stretch>
        </p:blipFill>
        <p:spPr>
          <a:xfrm>
            <a:off x="811289" y="3841882"/>
            <a:ext cx="8568686" cy="26111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A8E8E1-CCA6-FAC2-F754-9884278BD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9" b="18093"/>
          <a:stretch>
            <a:fillRect/>
          </a:stretch>
        </p:blipFill>
        <p:spPr>
          <a:xfrm>
            <a:off x="3278079" y="1180761"/>
            <a:ext cx="8568686" cy="25231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132817-6852-672D-B8C3-530BA6F30D81}"/>
              </a:ext>
            </a:extLst>
          </p:cNvPr>
          <p:cNvSpPr txBox="1"/>
          <p:nvPr/>
        </p:nvSpPr>
        <p:spPr>
          <a:xfrm>
            <a:off x="811289" y="1452880"/>
            <a:ext cx="1911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Success Graph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1118B-E2F8-1F0A-3D06-6A321111C72F}"/>
              </a:ext>
            </a:extLst>
          </p:cNvPr>
          <p:cNvSpPr txBox="1"/>
          <p:nvPr/>
        </p:nvSpPr>
        <p:spPr>
          <a:xfrm>
            <a:off x="9828047" y="4342302"/>
            <a:ext cx="1911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Failure Graph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585E6B2-3F38-36BE-5091-234F3817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8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196EAA-1572-D736-E840-2252BA0F1C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7512" y="2925785"/>
            <a:ext cx="11356975" cy="1006429"/>
          </a:xfrm>
        </p:spPr>
        <p:txBody>
          <a:bodyPr/>
          <a:lstStyle/>
          <a:p>
            <a:r>
              <a:rPr lang="en-US" sz="6600"/>
              <a:t>Live Demo</a:t>
            </a:r>
            <a:endParaRPr lang="en-IN" sz="6600"/>
          </a:p>
        </p:txBody>
      </p:sp>
    </p:spTree>
    <p:extLst>
      <p:ext uri="{BB962C8B-B14F-4D97-AF65-F5344CB8AC3E}">
        <p14:creationId xmlns:p14="http://schemas.microsoft.com/office/powerpoint/2010/main" val="1880126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DEACAE-39BD-F050-AFD6-EDE3C5E46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3" y="257175"/>
            <a:ext cx="11344275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13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F075-A745-FC0D-7ADE-C74404D9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0EC0A6-FABC-E879-9458-FD0D9EA70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904" y="39873"/>
            <a:ext cx="11150192" cy="647168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E7F3F-2259-1813-24B5-E458D3A6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9D04-AB3E-457A-877F-09613A3A532E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A8E5E-75C7-F2CD-2A45-B992B914B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83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4B6BB1-BE93-6D66-2707-736761FCA6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82"/>
          <a:stretch>
            <a:fillRect/>
          </a:stretch>
        </p:blipFill>
        <p:spPr>
          <a:xfrm>
            <a:off x="1156772" y="101600"/>
            <a:ext cx="9878456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1F246-0F0D-83B3-3A8D-8B837FA0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8B296-5D26-4AAE-8608-3AF9DE05D977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27516-A54D-573D-1C19-3B4279D7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162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BA300-8763-E851-1FD7-5A6C5BBD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6B5DF6-DEDC-C755-CEE9-1A2E721DC1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7512" y="2925785"/>
            <a:ext cx="11356975" cy="1006429"/>
          </a:xfrm>
        </p:spPr>
        <p:txBody>
          <a:bodyPr/>
          <a:lstStyle/>
          <a:p>
            <a:r>
              <a:rPr lang="en-US" sz="6600"/>
              <a:t>Suggestions and Feedback</a:t>
            </a:r>
            <a:endParaRPr lang="en-IN" sz="6600"/>
          </a:p>
        </p:txBody>
      </p:sp>
    </p:spTree>
    <p:extLst>
      <p:ext uri="{BB962C8B-B14F-4D97-AF65-F5344CB8AC3E}">
        <p14:creationId xmlns:p14="http://schemas.microsoft.com/office/powerpoint/2010/main" val="1238905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5F02B-9A86-7945-55DB-49318982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27728C-5BDD-6D26-EC01-1574105FC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7512" y="2925785"/>
            <a:ext cx="11356975" cy="1006429"/>
          </a:xfrm>
        </p:spPr>
        <p:txBody>
          <a:bodyPr/>
          <a:lstStyle/>
          <a:p>
            <a:r>
              <a:rPr lang="en-US" sz="6600"/>
              <a:t>Thank You</a:t>
            </a:r>
            <a:endParaRPr lang="en-IN" sz="6600"/>
          </a:p>
        </p:txBody>
      </p:sp>
    </p:spTree>
    <p:extLst>
      <p:ext uri="{BB962C8B-B14F-4D97-AF65-F5344CB8AC3E}">
        <p14:creationId xmlns:p14="http://schemas.microsoft.com/office/powerpoint/2010/main" val="164996995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34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VanillaVTI</vt:lpstr>
      <vt:lpstr>Office Theme</vt:lpstr>
      <vt:lpstr>PowerPoint Presentation</vt:lpstr>
      <vt:lpstr>TEAM </vt:lpstr>
      <vt:lpstr>PowerPoint Presentation</vt:lpstr>
      <vt:lpstr>Problem Statement</vt:lpstr>
      <vt:lpstr>Architecture</vt:lpstr>
      <vt:lpstr>Workflow</vt:lpstr>
      <vt:lpstr>Technologies Used</vt:lpstr>
      <vt:lpstr>Solution Overview</vt:lpstr>
      <vt:lpstr>S3 Bucket</vt:lpstr>
      <vt:lpstr>PowerPoint Presentation</vt:lpstr>
      <vt:lpstr>Creating Lambda Functions </vt:lpstr>
      <vt:lpstr>Attaching the Role</vt:lpstr>
      <vt:lpstr>  </vt:lpstr>
      <vt:lpstr>PowerPoint Presentation</vt:lpstr>
      <vt:lpstr>What is Parquet Format </vt:lpstr>
      <vt:lpstr> </vt:lpstr>
      <vt:lpstr>After Running The Crawler </vt:lpstr>
      <vt:lpstr>PowerPoint Presentation</vt:lpstr>
      <vt:lpstr>PowerPoint Presentation</vt:lpstr>
      <vt:lpstr>Athena Query 3:  SELECT * FROM  updated_users limit 10;</vt:lpstr>
      <vt:lpstr>CloudWatch Logs</vt:lpstr>
      <vt:lpstr>PowerPoint Presentation</vt:lpstr>
      <vt:lpstr>PowerPoint Presentation</vt:lpstr>
      <vt:lpstr>Amazon SNS </vt:lpstr>
      <vt:lpstr>       Lambda3                       Error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Alekhya Lakshmi, Kola</dc:creator>
  <cp:revision>2</cp:revision>
  <dcterms:created xsi:type="dcterms:W3CDTF">2026-05-21T05:13:39Z</dcterms:created>
  <dcterms:modified xsi:type="dcterms:W3CDTF">2026-06-01T09:08:10Z</dcterms:modified>
</cp:coreProperties>
</file>